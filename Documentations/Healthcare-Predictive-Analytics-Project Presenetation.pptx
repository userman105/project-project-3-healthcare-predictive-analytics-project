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media/image18.png" ContentType="image/png"/>
  <Override PartName="/ppt/media/image1.png" ContentType="image/png"/>
  <Override PartName="/ppt/media/image2.png" ContentType="image/png"/>
  <Override PartName="/ppt/media/image34.svg" ContentType="image/svg"/>
  <Override PartName="/ppt/media/image40.png" ContentType="image/png"/>
  <Override PartName="/ppt/media/image4.png" ContentType="image/png"/>
  <Override PartName="/ppt/media/image15.png" ContentType="image/png"/>
  <Override PartName="/ppt/media/image3.png" ContentType="image/png"/>
  <Override PartName="/ppt/media/image8.svg" ContentType="image/svg"/>
  <Override PartName="/ppt/media/image41.png" ContentType="image/png"/>
  <Override PartName="/ppt/media/image17.svg" ContentType="image/svg"/>
  <Override PartName="/ppt/media/image5.png" ContentType="image/png"/>
  <Override PartName="/ppt/media/image42.png" ContentType="image/png"/>
  <Override PartName="/ppt/media/image6.png" ContentType="image/png"/>
  <Override PartName="/ppt/media/image43.png" ContentType="image/png"/>
  <Override PartName="/ppt/media/image7.png" ContentType="image/png"/>
  <Override PartName="/ppt/media/image20.png" ContentType="image/png"/>
  <Override PartName="/ppt/media/image10.svg" ContentType="image/svg"/>
  <Override PartName="/ppt/media/image9.png" ContentType="image/png"/>
  <Override PartName="/ppt/media/image21.svg" ContentType="image/svg"/>
  <Override PartName="/ppt/media/image11.png" ContentType="image/png"/>
  <Override PartName="/ppt/media/image12.svg" ContentType="image/svg"/>
  <Override PartName="/ppt/media/image13.png" ContentType="image/png"/>
  <Override PartName="/ppt/media/image14.png" ContentType="image/png"/>
  <Override PartName="/ppt/media/image16.png" ContentType="image/png"/>
  <Override PartName="/ppt/media/image25.png" ContentType="image/png"/>
  <Override PartName="/ppt/media/image27.png" ContentType="image/png"/>
  <Override PartName="/ppt/media/image19.svg" ContentType="image/svg"/>
  <Override PartName="/ppt/media/image22.png" ContentType="image/png"/>
  <Override PartName="/ppt/media/image23.png" ContentType="image/png"/>
  <Override PartName="/ppt/media/image24.png" ContentType="image/png"/>
  <Override PartName="/ppt/media/image26.png" ContentType="image/png"/>
  <Override PartName="/ppt/media/image30.svg" ContentType="image/svg"/>
  <Override PartName="/ppt/media/image28.png" ContentType="image/png"/>
  <Override PartName="/ppt/media/image29.png" ContentType="image/png"/>
  <Override PartName="/ppt/media/image31.png" ContentType="image/png"/>
  <Override PartName="/ppt/media/image32.svg" ContentType="image/svg"/>
  <Override PartName="/ppt/media/image33.png" ContentType="image/png"/>
  <Override PartName="/ppt/media/image35.png" ContentType="image/png"/>
  <Override PartName="/ppt/media/image36.svg" ContentType="image/svg"/>
  <Override PartName="/ppt/media/image37.png" ContentType="image/png"/>
  <Override PartName="/ppt/media/image38.png" ContentType="image/png"/>
  <Override PartName="/ppt/media/image39.png" ContentType="image/png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fonts/Font_2_Roboto_Regular.fntdata" ContentType="application/x-fontdata"/>
  <Override PartName="/ppt/fonts/Font_1_Raleway_Bold.fntdata" ContentType="application/x-fontdata"/>
  <Override PartName="/ppt/presProps.xml" ContentType="application/vnd.openxmlformats-officedocument.presentationml.presPro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4630400" cy="8229600"/>
  <p:notesSz cx="8229600" cy="14630400"/>
  <p:embeddedFontLst>
    <p:embeddedFont>
      <p:font typeface="Raleway"/>
      <p:bold r:id="rId15"/>
    </p:embeddedFont>
    <p:embeddedFont>
      <p:font typeface="Roboto"/>
      <p:regular r:id="rId16"/>
    </p:embeddedFont>
    <p:embeddedFont>
      <p:font typeface="Calibri Light"/>
    </p:embeddedFont>
    <p:embeddedFont>
      <p:font typeface="Relaway"/>
    </p:embeddedFont>
    <p:embeddedFont>
      <p:font typeface="Bahnschrift Light Condensed"/>
    </p:embeddedFont>
    <p:embeddedFont>
      <p:font typeface="Microsoft YaHei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font" Target="fonts/Font_1_Raleway_Bold.fntdata"/><Relationship Id="rId16" Type="http://schemas.openxmlformats.org/officeDocument/2006/relationships/font" Target="fonts/Font_2_Roboto_Regular.fntdata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E9FF304-2BF5-4617-AE84-CDDB95124B0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DDBC18F-2C94-4EA5-9EE0-048F35A980C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59491F0-369B-4D0F-9569-3E37E632DD9E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4BEADE8-6BAA-4933-A3AE-CCF7A040175A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EC555E9-C435-4257-8F98-6ABE07C4FF0E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10AA18C-6F82-4E01-AC83-388EC46A70F2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E6E199D-B24E-4E32-9390-EEE1527B4ABB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75D265A-989E-4156-8736-BD05245D7441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5199381-5B67-4FC3-9397-D88EDFAA6941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73E03FB-0078-48CF-A9B0-0F99CDFE515F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6DCDB4E-9107-4F10-A5B1-96B54F9E5E36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ecec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6640" cy="13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6640" cy="477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ecec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6640" cy="13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6640" cy="477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ecec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6640" cy="13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6640" cy="477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ecec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6640" cy="13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6640" cy="477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ecec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ecec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6640" cy="13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6640" cy="477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ecec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6640" cy="13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6640" cy="477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ecec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6640" cy="13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6640" cy="477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ecec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6640" cy="13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6640" cy="477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0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ecec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"/>
          <p:cNvSpPr/>
          <p:nvPr/>
        </p:nvSpPr>
        <p:spPr>
          <a:xfrm>
            <a:off x="0" y="0"/>
            <a:ext cx="14629680" cy="822888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1880" cy="41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6640" cy="137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6640" cy="477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11.png"/><Relationship Id="rId6" Type="http://schemas.openxmlformats.org/officeDocument/2006/relationships/image" Target="../media/image12.svg"/><Relationship Id="rId7" Type="http://schemas.openxmlformats.org/officeDocument/2006/relationships/image" Target="../media/image3.png"/><Relationship Id="rId8" Type="http://schemas.openxmlformats.org/officeDocument/2006/relationships/image" Target="../media/image6.png"/><Relationship Id="rId9" Type="http://schemas.openxmlformats.org/officeDocument/2006/relationships/image" Target="../media/image5.png"/><Relationship Id="rId10" Type="http://schemas.openxmlformats.org/officeDocument/2006/relationships/slideLayout" Target="../slideLayouts/slideLayout8.xml"/><Relationship Id="rId11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svg"/><Relationship Id="rId4" Type="http://schemas.openxmlformats.org/officeDocument/2006/relationships/image" Target="../media/image18.png"/><Relationship Id="rId5" Type="http://schemas.openxmlformats.org/officeDocument/2006/relationships/image" Target="../media/image19.svg"/><Relationship Id="rId6" Type="http://schemas.openxmlformats.org/officeDocument/2006/relationships/image" Target="../media/image20.png"/><Relationship Id="rId7" Type="http://schemas.openxmlformats.org/officeDocument/2006/relationships/image" Target="../media/image21.svg"/><Relationship Id="rId8" Type="http://schemas.openxmlformats.org/officeDocument/2006/relationships/image" Target="../media/image6.png"/><Relationship Id="rId9" Type="http://schemas.openxmlformats.org/officeDocument/2006/relationships/image" Target="../media/image5.png"/><Relationship Id="rId10" Type="http://schemas.openxmlformats.org/officeDocument/2006/relationships/slideLayout" Target="../slideLayouts/slideLayout11.xml"/><Relationship Id="rId11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3.png"/><Relationship Id="rId7" Type="http://schemas.openxmlformats.org/officeDocument/2006/relationships/image" Target="../media/image6.png"/><Relationship Id="rId8" Type="http://schemas.openxmlformats.org/officeDocument/2006/relationships/image" Target="../media/image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6.png"/><Relationship Id="rId3" Type="http://schemas.openxmlformats.org/officeDocument/2006/relationships/image" Target="../media/image28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svg"/><Relationship Id="rId3" Type="http://schemas.openxmlformats.org/officeDocument/2006/relationships/image" Target="../media/image31.png"/><Relationship Id="rId4" Type="http://schemas.openxmlformats.org/officeDocument/2006/relationships/image" Target="../media/image32.svg"/><Relationship Id="rId5" Type="http://schemas.openxmlformats.org/officeDocument/2006/relationships/image" Target="../media/image33.png"/><Relationship Id="rId6" Type="http://schemas.openxmlformats.org/officeDocument/2006/relationships/image" Target="../media/image34.svg"/><Relationship Id="rId7" Type="http://schemas.openxmlformats.org/officeDocument/2006/relationships/image" Target="../media/image35.png"/><Relationship Id="rId8" Type="http://schemas.openxmlformats.org/officeDocument/2006/relationships/image" Target="../media/image36.svg"/><Relationship Id="rId9" Type="http://schemas.openxmlformats.org/officeDocument/2006/relationships/image" Target="../media/image3.png"/><Relationship Id="rId10" Type="http://schemas.openxmlformats.org/officeDocument/2006/relationships/image" Target="../media/image6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hyperlink" Target="https://github.com/userman105/Project-Project-3-Healthcare-Predictive-Analytics-Project" TargetMode="External"/><Relationship Id="rId5" Type="http://schemas.openxmlformats.org/officeDocument/2006/relationships/hyperlink" Target="https://github.com/userman105/Healthcare-Predictive-Analytics-Project-Laravel-Front" TargetMode="External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5680" cy="822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Text 0"/>
          <p:cNvSpPr/>
          <p:nvPr/>
        </p:nvSpPr>
        <p:spPr>
          <a:xfrm>
            <a:off x="6280200" y="3054600"/>
            <a:ext cx="755568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0" lang="en-US" sz="4450" strike="noStrike" u="none">
                <a:solidFill>
                  <a:srgbClr val="1b1b27"/>
                </a:solidFill>
                <a:effectLst/>
                <a:uFillTx/>
                <a:latin typeface="Raleway"/>
                <a:ea typeface="Raleway"/>
              </a:rPr>
              <a:t>Healthcare Predictive Analytics Project</a:t>
            </a:r>
            <a:endParaRPr b="0" lang="en-US" sz="4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6280200" y="4812120"/>
            <a:ext cx="755568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An AI-powered model for early diabetes detection.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" name="" descr=""/>
          <p:cNvPicPr/>
          <p:nvPr/>
        </p:nvPicPr>
        <p:blipFill>
          <a:blip r:embed="rId2"/>
          <a:stretch/>
        </p:blipFill>
        <p:spPr>
          <a:xfrm>
            <a:off x="12115800" y="7543800"/>
            <a:ext cx="2514240" cy="68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" name="" descr=""/>
          <p:cNvPicPr/>
          <p:nvPr/>
        </p:nvPicPr>
        <p:blipFill>
          <a:blip r:embed="rId3"/>
          <a:stretch/>
        </p:blipFill>
        <p:spPr>
          <a:xfrm>
            <a:off x="6629400" y="45360"/>
            <a:ext cx="1193400" cy="109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" name="" descr=""/>
          <p:cNvPicPr/>
          <p:nvPr/>
        </p:nvPicPr>
        <p:blipFill>
          <a:blip r:embed="rId4"/>
          <a:stretch/>
        </p:blipFill>
        <p:spPr>
          <a:xfrm>
            <a:off x="0" y="-34560"/>
            <a:ext cx="1828440" cy="491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" descr=""/>
          <p:cNvPicPr/>
          <p:nvPr/>
        </p:nvPicPr>
        <p:blipFill>
          <a:blip r:embed="rId5"/>
          <a:stretch/>
        </p:blipFill>
        <p:spPr>
          <a:xfrm>
            <a:off x="12344400" y="0"/>
            <a:ext cx="2285640" cy="1148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/>
          <p:nvPr/>
        </p:nvSpPr>
        <p:spPr>
          <a:xfrm>
            <a:off x="743040" y="759600"/>
            <a:ext cx="265284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99"/>
              </a:lnSpc>
              <a:tabLst>
                <a:tab algn="l" pos="0"/>
              </a:tabLst>
            </a:pPr>
            <a:r>
              <a:rPr b="0" lang="en-US" sz="2050" strike="noStrike" u="none">
                <a:solidFill>
                  <a:srgbClr val="1b1b27"/>
                </a:solidFill>
                <a:effectLst/>
                <a:uFillTx/>
                <a:latin typeface="Raleway"/>
                <a:ea typeface="Raleway"/>
              </a:rPr>
              <a:t>Project Overview</a:t>
            </a:r>
            <a:endParaRPr b="0" lang="en-US" sz="2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743040" y="1176120"/>
            <a:ext cx="7657560" cy="13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5199"/>
              </a:lnSpc>
              <a:tabLst>
                <a:tab algn="l" pos="0"/>
              </a:tabLst>
            </a:pPr>
            <a:r>
              <a:rPr b="0" lang="en-US" sz="4150" strike="noStrike" u="none">
                <a:solidFill>
                  <a:srgbClr val="1b1b27"/>
                </a:solidFill>
                <a:effectLst/>
                <a:uFillTx/>
                <a:latin typeface="Raleway"/>
                <a:ea typeface="Raleway"/>
              </a:rPr>
              <a:t>Revolutionizing Early Diabetes Detection</a:t>
            </a:r>
            <a:endParaRPr b="0" lang="en-US" sz="4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"/>
          <p:cNvSpPr/>
          <p:nvPr/>
        </p:nvSpPr>
        <p:spPr>
          <a:xfrm>
            <a:off x="743040" y="3139560"/>
            <a:ext cx="3722400" cy="2234880"/>
          </a:xfrm>
          <a:prstGeom prst="roundRect">
            <a:avLst>
              <a:gd name="adj" fmla="val 4908"/>
            </a:avLst>
          </a:prstGeom>
          <a:solidFill>
            <a:srgbClr val="ffffff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3"/>
          <p:cNvSpPr/>
          <p:nvPr/>
        </p:nvSpPr>
        <p:spPr>
          <a:xfrm>
            <a:off x="743040" y="3116520"/>
            <a:ext cx="3722400" cy="90720"/>
          </a:xfrm>
          <a:prstGeom prst="roundRect">
            <a:avLst>
              <a:gd name="adj" fmla="val 97505"/>
            </a:avLst>
          </a:prstGeom>
          <a:solidFill>
            <a:srgbClr val="1b1b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4"/>
          <p:cNvSpPr/>
          <p:nvPr/>
        </p:nvSpPr>
        <p:spPr>
          <a:xfrm>
            <a:off x="2286000" y="2821320"/>
            <a:ext cx="636120" cy="636120"/>
          </a:xfrm>
          <a:prstGeom prst="roundRect">
            <a:avLst>
              <a:gd name="adj" fmla="val 143605"/>
            </a:avLst>
          </a:prstGeom>
          <a:solidFill>
            <a:srgbClr val="1b1b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8" name="Image 1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2476800" y="3012120"/>
            <a:ext cx="253800" cy="25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Text 5"/>
          <p:cNvSpPr/>
          <p:nvPr/>
        </p:nvSpPr>
        <p:spPr>
          <a:xfrm>
            <a:off x="978120" y="3670200"/>
            <a:ext cx="325224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99"/>
              </a:lnSpc>
              <a:tabLst>
                <a:tab algn="l" pos="0"/>
              </a:tabLst>
            </a:pPr>
            <a:r>
              <a:rPr b="0" lang="en-US" sz="2050" strike="noStrike" u="none">
                <a:solidFill>
                  <a:srgbClr val="3c3939"/>
                </a:solidFill>
                <a:effectLst/>
                <a:uFillTx/>
                <a:latin typeface="Raleway"/>
                <a:ea typeface="Raleway"/>
              </a:rPr>
              <a:t>AI-Powered Predictive Model</a:t>
            </a:r>
            <a:endParaRPr b="0" lang="en-US" sz="2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6"/>
          <p:cNvSpPr/>
          <p:nvPr/>
        </p:nvSpPr>
        <p:spPr>
          <a:xfrm>
            <a:off x="978120" y="4460760"/>
            <a:ext cx="3252240" cy="67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65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Leveraging artificial intelligence for proactive health insights.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7"/>
          <p:cNvSpPr/>
          <p:nvPr/>
        </p:nvSpPr>
        <p:spPr>
          <a:xfrm>
            <a:off x="4678200" y="3139560"/>
            <a:ext cx="3722400" cy="2234880"/>
          </a:xfrm>
          <a:prstGeom prst="roundRect">
            <a:avLst>
              <a:gd name="adj" fmla="val 4908"/>
            </a:avLst>
          </a:prstGeom>
          <a:solidFill>
            <a:srgbClr val="ffffff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8"/>
          <p:cNvSpPr/>
          <p:nvPr/>
        </p:nvSpPr>
        <p:spPr>
          <a:xfrm>
            <a:off x="4678200" y="3116520"/>
            <a:ext cx="3722400" cy="90720"/>
          </a:xfrm>
          <a:prstGeom prst="roundRect">
            <a:avLst>
              <a:gd name="adj" fmla="val 97505"/>
            </a:avLst>
          </a:prstGeom>
          <a:solidFill>
            <a:srgbClr val="1b1b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9"/>
          <p:cNvSpPr/>
          <p:nvPr/>
        </p:nvSpPr>
        <p:spPr>
          <a:xfrm>
            <a:off x="6221160" y="2821320"/>
            <a:ext cx="636120" cy="636120"/>
          </a:xfrm>
          <a:prstGeom prst="roundRect">
            <a:avLst>
              <a:gd name="adj" fmla="val 143605"/>
            </a:avLst>
          </a:prstGeom>
          <a:solidFill>
            <a:srgbClr val="1b1b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4" name="Image 2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411960" y="3012120"/>
            <a:ext cx="253800" cy="25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Text 10"/>
          <p:cNvSpPr/>
          <p:nvPr/>
        </p:nvSpPr>
        <p:spPr>
          <a:xfrm>
            <a:off x="4913280" y="3670200"/>
            <a:ext cx="265284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99"/>
              </a:lnSpc>
              <a:tabLst>
                <a:tab algn="l" pos="0"/>
              </a:tabLst>
            </a:pPr>
            <a:r>
              <a:rPr b="0" lang="en-US" sz="2050" strike="noStrike" u="none">
                <a:solidFill>
                  <a:srgbClr val="3c3939"/>
                </a:solidFill>
                <a:effectLst/>
                <a:uFillTx/>
                <a:latin typeface="Raleway"/>
                <a:ea typeface="Raleway"/>
              </a:rPr>
              <a:t>Lifestyle Indicators</a:t>
            </a:r>
            <a:endParaRPr b="0" lang="en-US" sz="2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1"/>
          <p:cNvSpPr/>
          <p:nvPr/>
        </p:nvSpPr>
        <p:spPr>
          <a:xfrm>
            <a:off x="4913280" y="4129200"/>
            <a:ext cx="3252240" cy="67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65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Focus on non-invasive data to identify at-risk patients.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2"/>
          <p:cNvSpPr/>
          <p:nvPr/>
        </p:nvSpPr>
        <p:spPr>
          <a:xfrm>
            <a:off x="743040" y="5905440"/>
            <a:ext cx="7657560" cy="1563480"/>
          </a:xfrm>
          <a:prstGeom prst="roundRect">
            <a:avLst>
              <a:gd name="adj" fmla="val 7015"/>
            </a:avLst>
          </a:prstGeom>
          <a:solidFill>
            <a:srgbClr val="ffffff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3"/>
          <p:cNvSpPr/>
          <p:nvPr/>
        </p:nvSpPr>
        <p:spPr>
          <a:xfrm>
            <a:off x="743040" y="5882760"/>
            <a:ext cx="7657560" cy="90720"/>
          </a:xfrm>
          <a:prstGeom prst="roundRect">
            <a:avLst>
              <a:gd name="adj" fmla="val 97505"/>
            </a:avLst>
          </a:prstGeom>
          <a:solidFill>
            <a:srgbClr val="1b1b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4"/>
          <p:cNvSpPr/>
          <p:nvPr/>
        </p:nvSpPr>
        <p:spPr>
          <a:xfrm>
            <a:off x="4253760" y="5587200"/>
            <a:ext cx="636120" cy="636120"/>
          </a:xfrm>
          <a:prstGeom prst="roundRect">
            <a:avLst>
              <a:gd name="adj" fmla="val 143605"/>
            </a:avLst>
          </a:prstGeom>
          <a:solidFill>
            <a:srgbClr val="1b1b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0" name="Image 3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4444560" y="5778360"/>
            <a:ext cx="253800" cy="25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Text 15"/>
          <p:cNvSpPr/>
          <p:nvPr/>
        </p:nvSpPr>
        <p:spPr>
          <a:xfrm>
            <a:off x="978120" y="6436440"/>
            <a:ext cx="328212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99"/>
              </a:lnSpc>
              <a:tabLst>
                <a:tab algn="l" pos="0"/>
              </a:tabLst>
            </a:pPr>
            <a:r>
              <a:rPr b="0" lang="en-US" sz="2050" strike="noStrike" u="none">
                <a:solidFill>
                  <a:srgbClr val="3c3939"/>
                </a:solidFill>
                <a:effectLst/>
                <a:uFillTx/>
                <a:latin typeface="Raleway"/>
                <a:ea typeface="Raleway"/>
              </a:rPr>
              <a:t>Supporting Early Diagnosis</a:t>
            </a:r>
            <a:endParaRPr b="0" lang="en-US" sz="2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6"/>
          <p:cNvSpPr/>
          <p:nvPr/>
        </p:nvSpPr>
        <p:spPr>
          <a:xfrm>
            <a:off x="978120" y="6895440"/>
            <a:ext cx="7187400" cy="3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65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Improve quality of life and reduce healthcare burden.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" name="" descr=""/>
          <p:cNvPicPr/>
          <p:nvPr/>
        </p:nvPicPr>
        <p:blipFill>
          <a:blip r:embed="rId7"/>
          <a:stretch/>
        </p:blipFill>
        <p:spPr>
          <a:xfrm>
            <a:off x="12116160" y="7544160"/>
            <a:ext cx="2514240" cy="68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"/>
          <p:cNvSpPr/>
          <p:nvPr/>
        </p:nvSpPr>
        <p:spPr>
          <a:xfrm>
            <a:off x="1276560" y="3328560"/>
            <a:ext cx="10425960" cy="70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</a:pPr>
            <a:r>
              <a:rPr b="0" lang="en-US" sz="4150" strike="noStrike" u="none">
                <a:solidFill>
                  <a:srgbClr val="1b1b27"/>
                </a:solidFill>
                <a:effectLst/>
                <a:uFillTx/>
                <a:latin typeface="Raleway"/>
                <a:ea typeface="Raleway"/>
              </a:rPr>
              <a:t>	</a:t>
            </a:r>
            <a:r>
              <a:rPr b="0" lang="en-US" sz="4150" strike="noStrike" u="none">
                <a:solidFill>
                  <a:srgbClr val="1b1b27"/>
                </a:solidFill>
                <a:effectLst/>
                <a:uFillTx/>
                <a:latin typeface="Raleway"/>
                <a:ea typeface="Raleway"/>
              </a:rPr>
              <a:t>	</a:t>
            </a:r>
            <a:r>
              <a:rPr b="0" lang="en-US" sz="4150" strike="noStrike" u="none">
                <a:solidFill>
                  <a:srgbClr val="1b1b27"/>
                </a:solidFill>
                <a:effectLst/>
                <a:uFillTx/>
                <a:latin typeface="Raleway"/>
                <a:ea typeface="Raleway"/>
              </a:rPr>
              <a:t>	</a:t>
            </a:r>
            <a:r>
              <a:rPr b="0" lang="en-US" sz="4150" strike="noStrike" u="none">
                <a:solidFill>
                  <a:srgbClr val="1b1b27"/>
                </a:solidFill>
                <a:effectLst/>
                <a:uFillTx/>
                <a:latin typeface="Raleway"/>
                <a:ea typeface="Raleway"/>
              </a:rPr>
              <a:t>	</a:t>
            </a:r>
            <a:r>
              <a:rPr b="0" lang="en-US" sz="4150" strike="noStrike" u="none">
                <a:solidFill>
                  <a:srgbClr val="1b1b27"/>
                </a:solidFill>
                <a:effectLst/>
                <a:uFillTx/>
                <a:latin typeface="Raleway"/>
                <a:ea typeface="Raleway"/>
              </a:rPr>
              <a:t>	</a:t>
            </a:r>
            <a:r>
              <a:rPr b="0" lang="en-US" sz="4150" strike="noStrike" u="none">
                <a:solidFill>
                  <a:srgbClr val="1b1b27"/>
                </a:solidFill>
                <a:effectLst/>
                <a:uFillTx/>
                <a:latin typeface="Raleway"/>
                <a:ea typeface="Raleway"/>
              </a:rPr>
              <a:t>	</a:t>
            </a:r>
            <a:r>
              <a:rPr b="0" lang="en-US" sz="4150" strike="noStrike" u="none">
                <a:solidFill>
                  <a:srgbClr val="1b1b27"/>
                </a:solidFill>
                <a:effectLst/>
                <a:uFillTx/>
                <a:latin typeface="Raleway"/>
                <a:ea typeface="Raleway"/>
              </a:rPr>
              <a:t>	</a:t>
            </a:r>
            <a:r>
              <a:rPr b="0" lang="en-US" sz="4150" strike="noStrike" u="none">
                <a:solidFill>
                  <a:srgbClr val="1b1b27"/>
                </a:solidFill>
                <a:effectLst/>
                <a:uFillTx/>
                <a:latin typeface="Raleway"/>
                <a:ea typeface="Raleway"/>
              </a:rPr>
              <a:t>	</a:t>
            </a:r>
            <a:r>
              <a:rPr b="0" lang="en-US" sz="4150" strike="noStrike" u="none">
                <a:solidFill>
                  <a:srgbClr val="1b1b27"/>
                </a:solidFill>
                <a:effectLst/>
                <a:uFillTx/>
                <a:latin typeface="Raleway"/>
                <a:ea typeface="Raleway"/>
              </a:rPr>
              <a:t>	</a:t>
            </a:r>
            <a:endParaRPr b="0" lang="en-US" sz="4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11316960" y="2286000"/>
            <a:ext cx="2627280" cy="41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Raleway"/>
              </a:rPr>
              <a:t>Introduced by</a:t>
            </a:r>
            <a:br>
              <a:rPr sz="1800"/>
            </a:b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Bahnschrift Light Condensed"/>
              </a:rPr>
              <a:t>Omar Hammed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Bahnschrift Light Condensed"/>
              </a:rPr>
              <a:t>Mohammed Awad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Bahnschrift Light Condensed"/>
              </a:rPr>
              <a:t>John Hosny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Bahnschrift Light Condensed"/>
              </a:rPr>
              <a:t>Mahmoud Salah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Bahnschrift Light Condensed"/>
              </a:rPr>
              <a:t>Mahmoud Nagaty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Bahnschrift Light Condensed"/>
              </a:rPr>
              <a:t>Mohamed Aziz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" descr=""/>
          <p:cNvPicPr/>
          <p:nvPr/>
        </p:nvPicPr>
        <p:blipFill>
          <a:blip r:embed="rId8"/>
          <a:stretch/>
        </p:blipFill>
        <p:spPr>
          <a:xfrm>
            <a:off x="12344400" y="0"/>
            <a:ext cx="2285640" cy="1148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" descr=""/>
          <p:cNvPicPr/>
          <p:nvPr/>
        </p:nvPicPr>
        <p:blipFill>
          <a:blip r:embed="rId9"/>
          <a:stretch/>
        </p:blipFill>
        <p:spPr>
          <a:xfrm>
            <a:off x="0" y="0"/>
            <a:ext cx="1828440" cy="491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0"/>
          <p:cNvSpPr/>
          <p:nvPr/>
        </p:nvSpPr>
        <p:spPr>
          <a:xfrm>
            <a:off x="639720" y="502560"/>
            <a:ext cx="228528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1b1b27"/>
                </a:solidFill>
                <a:effectLst/>
                <a:uFillTx/>
                <a:latin typeface="Raleway"/>
                <a:ea typeface="Raleway"/>
              </a:rPr>
              <a:t>The Global Challenge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"/>
          <p:cNvSpPr/>
          <p:nvPr/>
        </p:nvSpPr>
        <p:spPr>
          <a:xfrm>
            <a:off x="639720" y="861120"/>
            <a:ext cx="5730840" cy="57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450"/>
              </a:lnSpc>
              <a:tabLst>
                <a:tab algn="l" pos="0"/>
              </a:tabLst>
            </a:pPr>
            <a:r>
              <a:rPr b="0" lang="en-US" sz="3550" strike="noStrike" u="none">
                <a:solidFill>
                  <a:srgbClr val="1b1b27"/>
                </a:solidFill>
                <a:effectLst/>
                <a:uFillTx/>
                <a:latin typeface="Raleway"/>
                <a:ea typeface="Raleway"/>
              </a:rPr>
              <a:t>The Rising Tide of Diabetes</a:t>
            </a:r>
            <a:endParaRPr b="0" lang="en-US" sz="3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Image 0" descr="preencoded.png"/>
          <p:cNvPicPr/>
          <p:nvPr/>
        </p:nvPicPr>
        <p:blipFill>
          <a:blip r:embed="rId1"/>
          <a:stretch/>
        </p:blipFill>
        <p:spPr>
          <a:xfrm>
            <a:off x="0" y="1777680"/>
            <a:ext cx="6451560" cy="645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Shape 2"/>
          <p:cNvSpPr/>
          <p:nvPr/>
        </p:nvSpPr>
        <p:spPr>
          <a:xfrm>
            <a:off x="7545960" y="1912320"/>
            <a:ext cx="410400" cy="410400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3"/>
          <p:cNvSpPr/>
          <p:nvPr/>
        </p:nvSpPr>
        <p:spPr>
          <a:xfrm>
            <a:off x="7614360" y="1946520"/>
            <a:ext cx="27360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149"/>
              </a:lnSpc>
              <a:tabLst>
                <a:tab algn="l" pos="0"/>
              </a:tabLst>
            </a:pPr>
            <a:r>
              <a:rPr b="0" lang="en-US" sz="2150" strike="noStrike" u="none">
                <a:solidFill>
                  <a:srgbClr val="3c3939"/>
                </a:solidFill>
                <a:effectLst/>
                <a:uFillTx/>
                <a:latin typeface="Raleway"/>
                <a:ea typeface="Raleway"/>
              </a:rPr>
              <a:t>1</a:t>
            </a:r>
            <a:endParaRPr b="0" lang="en-US" sz="2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4"/>
          <p:cNvSpPr/>
          <p:nvPr/>
        </p:nvSpPr>
        <p:spPr>
          <a:xfrm>
            <a:off x="8139960" y="1974960"/>
            <a:ext cx="304560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3c3939"/>
                </a:solidFill>
                <a:effectLst/>
                <a:uFillTx/>
                <a:latin typeface="Raleway"/>
                <a:ea typeface="Raleway"/>
              </a:rPr>
              <a:t>Widespread Chronic Disease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5"/>
          <p:cNvSpPr/>
          <p:nvPr/>
        </p:nvSpPr>
        <p:spPr>
          <a:xfrm>
            <a:off x="8139960" y="2443320"/>
            <a:ext cx="58575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A major health concern, especially in developing nations.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6"/>
          <p:cNvSpPr/>
          <p:nvPr/>
        </p:nvSpPr>
        <p:spPr>
          <a:xfrm>
            <a:off x="7545960" y="3101400"/>
            <a:ext cx="410400" cy="410400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7"/>
          <p:cNvSpPr/>
          <p:nvPr/>
        </p:nvSpPr>
        <p:spPr>
          <a:xfrm>
            <a:off x="7614360" y="3135600"/>
            <a:ext cx="27360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149"/>
              </a:lnSpc>
              <a:tabLst>
                <a:tab algn="l" pos="0"/>
              </a:tabLst>
            </a:pPr>
            <a:r>
              <a:rPr b="0" lang="en-US" sz="2150" strike="noStrike" u="none">
                <a:solidFill>
                  <a:srgbClr val="3c3939"/>
                </a:solidFill>
                <a:effectLst/>
                <a:uFillTx/>
                <a:latin typeface="Raleway"/>
                <a:ea typeface="Raleway"/>
              </a:rPr>
              <a:t>2</a:t>
            </a:r>
            <a:endParaRPr b="0" lang="en-US" sz="2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8"/>
          <p:cNvSpPr/>
          <p:nvPr/>
        </p:nvSpPr>
        <p:spPr>
          <a:xfrm>
            <a:off x="8139960" y="3164040"/>
            <a:ext cx="228456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3c3939"/>
                </a:solidFill>
                <a:effectLst/>
                <a:uFillTx/>
                <a:latin typeface="Raleway"/>
                <a:ea typeface="Raleway"/>
              </a:rPr>
              <a:t>Alarming Statistics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9"/>
          <p:cNvSpPr/>
          <p:nvPr/>
        </p:nvSpPr>
        <p:spPr>
          <a:xfrm>
            <a:off x="8139960" y="3632400"/>
            <a:ext cx="58575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537 million</a:t>
            </a:r>
            <a:r>
              <a:rPr b="0" lang="en-US" sz="140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 people with diabetes in 2021.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0"/>
          <p:cNvSpPr/>
          <p:nvPr/>
        </p:nvSpPr>
        <p:spPr>
          <a:xfrm>
            <a:off x="7545960" y="4290120"/>
            <a:ext cx="410400" cy="410400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1"/>
          <p:cNvSpPr/>
          <p:nvPr/>
        </p:nvSpPr>
        <p:spPr>
          <a:xfrm>
            <a:off x="7614360" y="4324680"/>
            <a:ext cx="27360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149"/>
              </a:lnSpc>
              <a:tabLst>
                <a:tab algn="l" pos="0"/>
              </a:tabLst>
            </a:pPr>
            <a:r>
              <a:rPr b="0" lang="en-US" sz="2150" strike="noStrike" u="none">
                <a:solidFill>
                  <a:srgbClr val="3c3939"/>
                </a:solidFill>
                <a:effectLst/>
                <a:uFillTx/>
                <a:latin typeface="Raleway"/>
                <a:ea typeface="Raleway"/>
              </a:rPr>
              <a:t>3</a:t>
            </a:r>
            <a:endParaRPr b="0" lang="en-US" sz="2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2"/>
          <p:cNvSpPr/>
          <p:nvPr/>
        </p:nvSpPr>
        <p:spPr>
          <a:xfrm>
            <a:off x="8139960" y="4353120"/>
            <a:ext cx="228456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3c3939"/>
                </a:solidFill>
                <a:effectLst/>
                <a:uFillTx/>
                <a:latin typeface="Raleway"/>
                <a:ea typeface="Raleway"/>
              </a:rPr>
              <a:t>Projected Growth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3"/>
          <p:cNvSpPr/>
          <p:nvPr/>
        </p:nvSpPr>
        <p:spPr>
          <a:xfrm>
            <a:off x="8139960" y="4821480"/>
            <a:ext cx="58575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99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Expected to rise to </a:t>
            </a:r>
            <a:r>
              <a:rPr b="1" lang="en-US" sz="140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643 million</a:t>
            </a:r>
            <a:r>
              <a:rPr b="0" lang="en-US" sz="140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 by 2030 without intervention.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" descr=""/>
          <p:cNvPicPr/>
          <p:nvPr/>
        </p:nvPicPr>
        <p:blipFill>
          <a:blip r:embed="rId2"/>
          <a:stretch/>
        </p:blipFill>
        <p:spPr>
          <a:xfrm>
            <a:off x="12116160" y="7544160"/>
            <a:ext cx="2514240" cy="68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" descr=""/>
          <p:cNvPicPr/>
          <p:nvPr/>
        </p:nvPicPr>
        <p:blipFill>
          <a:blip r:embed="rId3"/>
          <a:stretch/>
        </p:blipFill>
        <p:spPr>
          <a:xfrm>
            <a:off x="12344400" y="0"/>
            <a:ext cx="2285640" cy="1148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" descr=""/>
          <p:cNvPicPr/>
          <p:nvPr/>
        </p:nvPicPr>
        <p:blipFill>
          <a:blip r:embed="rId4"/>
          <a:stretch/>
        </p:blipFill>
        <p:spPr>
          <a:xfrm>
            <a:off x="0" y="0"/>
            <a:ext cx="1828440" cy="491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5680" cy="822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Text 0"/>
          <p:cNvSpPr/>
          <p:nvPr/>
        </p:nvSpPr>
        <p:spPr>
          <a:xfrm>
            <a:off x="793800" y="1160640"/>
            <a:ext cx="283464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1b1b27"/>
                </a:solidFill>
                <a:effectLst/>
                <a:uFillTx/>
                <a:latin typeface="Raleway"/>
                <a:ea typeface="Raleway"/>
              </a:rPr>
              <a:t>Problem Statement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"/>
          <p:cNvSpPr/>
          <p:nvPr/>
        </p:nvSpPr>
        <p:spPr>
          <a:xfrm>
            <a:off x="793800" y="1605600"/>
            <a:ext cx="746172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0" lang="en-US" sz="4450" strike="noStrike" u="none">
                <a:solidFill>
                  <a:srgbClr val="1b1b27"/>
                </a:solidFill>
                <a:effectLst/>
                <a:uFillTx/>
                <a:latin typeface="Raleway"/>
                <a:ea typeface="Raleway"/>
              </a:rPr>
              <a:t>Current Barriers to Diagnosis</a:t>
            </a:r>
            <a:endParaRPr b="0" lang="en-US" sz="4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2"/>
          <p:cNvSpPr/>
          <p:nvPr/>
        </p:nvSpPr>
        <p:spPr>
          <a:xfrm>
            <a:off x="793800" y="2654640"/>
            <a:ext cx="3664080" cy="2093040"/>
          </a:xfrm>
          <a:prstGeom prst="roundRect">
            <a:avLst>
              <a:gd name="adj" fmla="val 6988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3"/>
          <p:cNvSpPr/>
          <p:nvPr/>
        </p:nvSpPr>
        <p:spPr>
          <a:xfrm>
            <a:off x="763200" y="2654640"/>
            <a:ext cx="121320" cy="2093040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4"/>
          <p:cNvSpPr/>
          <p:nvPr/>
        </p:nvSpPr>
        <p:spPr>
          <a:xfrm>
            <a:off x="1142640" y="2912040"/>
            <a:ext cx="283464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3c3939"/>
                </a:solidFill>
                <a:effectLst/>
                <a:uFillTx/>
                <a:latin typeface="Raleway"/>
                <a:ea typeface="Raleway"/>
              </a:rPr>
              <a:t>Access Barriers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5"/>
          <p:cNvSpPr/>
          <p:nvPr/>
        </p:nvSpPr>
        <p:spPr>
          <a:xfrm>
            <a:off x="1142640" y="3402360"/>
            <a:ext cx="3057840" cy="10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Limited testing access in remote areas; need for reliable self-assessment.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6"/>
          <p:cNvSpPr/>
          <p:nvPr/>
        </p:nvSpPr>
        <p:spPr>
          <a:xfrm>
            <a:off x="4685400" y="2654640"/>
            <a:ext cx="3664080" cy="2093040"/>
          </a:xfrm>
          <a:prstGeom prst="roundRect">
            <a:avLst>
              <a:gd name="adj" fmla="val 6988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7"/>
          <p:cNvSpPr/>
          <p:nvPr/>
        </p:nvSpPr>
        <p:spPr>
          <a:xfrm>
            <a:off x="4654800" y="2654640"/>
            <a:ext cx="121320" cy="2093040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8"/>
          <p:cNvSpPr/>
          <p:nvPr/>
        </p:nvSpPr>
        <p:spPr>
          <a:xfrm>
            <a:off x="5034240" y="2912040"/>
            <a:ext cx="283464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3c3939"/>
                </a:solidFill>
                <a:effectLst/>
                <a:uFillTx/>
                <a:latin typeface="Raleway"/>
                <a:ea typeface="Raleway"/>
              </a:rPr>
              <a:t>Clinical Challenges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9"/>
          <p:cNvSpPr/>
          <p:nvPr/>
        </p:nvSpPr>
        <p:spPr>
          <a:xfrm>
            <a:off x="5034240" y="3402360"/>
            <a:ext cx="3058200" cy="10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Difficulty for non-specialists to confirm early cases; risk of misdiagnosis.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0"/>
          <p:cNvSpPr/>
          <p:nvPr/>
        </p:nvSpPr>
        <p:spPr>
          <a:xfrm>
            <a:off x="793800" y="4975200"/>
            <a:ext cx="3664080" cy="2093040"/>
          </a:xfrm>
          <a:prstGeom prst="roundRect">
            <a:avLst>
              <a:gd name="adj" fmla="val 6988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1"/>
          <p:cNvSpPr/>
          <p:nvPr/>
        </p:nvSpPr>
        <p:spPr>
          <a:xfrm>
            <a:off x="763200" y="4975200"/>
            <a:ext cx="121320" cy="2093040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2"/>
          <p:cNvSpPr/>
          <p:nvPr/>
        </p:nvSpPr>
        <p:spPr>
          <a:xfrm>
            <a:off x="1142640" y="5232600"/>
            <a:ext cx="283464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3c3939"/>
                </a:solidFill>
                <a:effectLst/>
                <a:uFillTx/>
                <a:latin typeface="Raleway"/>
                <a:ea typeface="Raleway"/>
              </a:rPr>
              <a:t>Emergency Settings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3"/>
          <p:cNvSpPr/>
          <p:nvPr/>
        </p:nvSpPr>
        <p:spPr>
          <a:xfrm>
            <a:off x="1142640" y="5722920"/>
            <a:ext cx="3057840" cy="10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Urgent need for quick, accurate assessments without full diagnostic tools.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" descr=""/>
          <p:cNvPicPr/>
          <p:nvPr/>
        </p:nvPicPr>
        <p:blipFill>
          <a:blip r:embed="rId2"/>
          <a:stretch/>
        </p:blipFill>
        <p:spPr>
          <a:xfrm>
            <a:off x="12344400" y="0"/>
            <a:ext cx="2285640" cy="1148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" name="" descr=""/>
          <p:cNvPicPr/>
          <p:nvPr/>
        </p:nvPicPr>
        <p:blipFill>
          <a:blip r:embed="rId3"/>
          <a:stretch/>
        </p:blipFill>
        <p:spPr>
          <a:xfrm>
            <a:off x="0" y="0"/>
            <a:ext cx="1828440" cy="491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5680" cy="822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Text 0"/>
          <p:cNvSpPr/>
          <p:nvPr/>
        </p:nvSpPr>
        <p:spPr>
          <a:xfrm>
            <a:off x="793800" y="1069200"/>
            <a:ext cx="283464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1b1b27"/>
                </a:solidFill>
                <a:effectLst/>
                <a:uFillTx/>
                <a:latin typeface="Raleway"/>
                <a:ea typeface="Raleway"/>
              </a:rPr>
              <a:t>Our Solution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793800" y="1514520"/>
            <a:ext cx="696852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0" lang="en-US" sz="4450" strike="noStrike" u="none">
                <a:solidFill>
                  <a:srgbClr val="1b1b27"/>
                </a:solidFill>
                <a:effectLst/>
                <a:uFillTx/>
                <a:latin typeface="Raleway"/>
                <a:ea typeface="Raleway"/>
              </a:rPr>
              <a:t>AI-Based Predictive Model</a:t>
            </a:r>
            <a:endParaRPr b="0" lang="en-US" sz="4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Image 1" descr="preencoded.png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93800" y="2563200"/>
            <a:ext cx="566280" cy="566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Text 2"/>
          <p:cNvSpPr/>
          <p:nvPr/>
        </p:nvSpPr>
        <p:spPr>
          <a:xfrm>
            <a:off x="1644120" y="2697840"/>
            <a:ext cx="283464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3c3939"/>
                </a:solidFill>
                <a:effectLst/>
                <a:uFillTx/>
                <a:latin typeface="Raleway"/>
                <a:ea typeface="Raleway"/>
              </a:rPr>
              <a:t>Self-Assessment Tool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3"/>
          <p:cNvSpPr/>
          <p:nvPr/>
        </p:nvSpPr>
        <p:spPr>
          <a:xfrm>
            <a:off x="1644120" y="3188520"/>
            <a:ext cx="6705360" cy="72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Empowers individuals to check risk at home using key health indicators.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9" name="Image 2" descr="preencoded.png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793800" y="4367880"/>
            <a:ext cx="566280" cy="566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Text 4"/>
          <p:cNvSpPr/>
          <p:nvPr/>
        </p:nvSpPr>
        <p:spPr>
          <a:xfrm>
            <a:off x="1644120" y="4502520"/>
            <a:ext cx="294084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3c3939"/>
                </a:solidFill>
                <a:effectLst/>
                <a:uFillTx/>
                <a:latin typeface="Raleway"/>
                <a:ea typeface="Raleway"/>
              </a:rPr>
              <a:t>AI-Powered Prediction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5"/>
          <p:cNvSpPr/>
          <p:nvPr/>
        </p:nvSpPr>
        <p:spPr>
          <a:xfrm>
            <a:off x="1644120" y="4992840"/>
            <a:ext cx="670536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Analyzes data for high-accuracy diabetes likelihood prediction.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" name="Image 3" descr="preencoded.png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793800" y="5809320"/>
            <a:ext cx="566280" cy="566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Text 6"/>
          <p:cNvSpPr/>
          <p:nvPr/>
        </p:nvSpPr>
        <p:spPr>
          <a:xfrm>
            <a:off x="1644120" y="5943960"/>
            <a:ext cx="283464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3c3939"/>
                </a:solidFill>
                <a:effectLst/>
                <a:uFillTx/>
                <a:latin typeface="Raleway"/>
                <a:ea typeface="Raleway"/>
              </a:rPr>
              <a:t>Healthcare Support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7"/>
          <p:cNvSpPr/>
          <p:nvPr/>
        </p:nvSpPr>
        <p:spPr>
          <a:xfrm>
            <a:off x="1644120" y="6434640"/>
            <a:ext cx="6705360" cy="72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Assists medical professionals in rapid diagnosis and decision-making.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8"/>
          <a:stretch/>
        </p:blipFill>
        <p:spPr>
          <a:xfrm>
            <a:off x="12344400" y="0"/>
            <a:ext cx="2285640" cy="1148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6" name="" descr=""/>
          <p:cNvPicPr/>
          <p:nvPr/>
        </p:nvPicPr>
        <p:blipFill>
          <a:blip r:embed="rId9"/>
          <a:stretch/>
        </p:blipFill>
        <p:spPr>
          <a:xfrm>
            <a:off x="0" y="0"/>
            <a:ext cx="1828440" cy="491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5680" cy="823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Text 0"/>
          <p:cNvSpPr/>
          <p:nvPr/>
        </p:nvSpPr>
        <p:spPr>
          <a:xfrm>
            <a:off x="6228720" y="583200"/>
            <a:ext cx="26503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99"/>
              </a:lnSpc>
              <a:tabLst>
                <a:tab algn="l" pos="0"/>
              </a:tabLst>
            </a:pPr>
            <a:r>
              <a:rPr b="0" lang="en-US" sz="2050" strike="noStrike" u="none">
                <a:solidFill>
                  <a:srgbClr val="1b1b27"/>
                </a:solidFill>
                <a:effectLst/>
                <a:uFillTx/>
                <a:latin typeface="Raleway"/>
                <a:ea typeface="Raleway"/>
              </a:rPr>
              <a:t>Project Methodology</a:t>
            </a:r>
            <a:endParaRPr b="0" lang="en-US" sz="2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"/>
          <p:cNvSpPr/>
          <p:nvPr/>
        </p:nvSpPr>
        <p:spPr>
          <a:xfrm>
            <a:off x="6228720" y="999360"/>
            <a:ext cx="6332760" cy="66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199"/>
              </a:lnSpc>
              <a:tabLst>
                <a:tab algn="l" pos="0"/>
              </a:tabLst>
            </a:pPr>
            <a:r>
              <a:rPr b="0" lang="en-US" sz="4150" strike="noStrike" u="none">
                <a:solidFill>
                  <a:srgbClr val="1b1b27"/>
                </a:solidFill>
                <a:effectLst/>
                <a:uFillTx/>
                <a:latin typeface="Raleway"/>
                <a:ea typeface="Raleway"/>
              </a:rPr>
              <a:t>From Data to Deployment</a:t>
            </a:r>
            <a:endParaRPr b="0" lang="en-US" sz="4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0" name="Image 1" descr="preencoded.png"/>
          <p:cNvPicPr/>
          <p:nvPr/>
        </p:nvPicPr>
        <p:blipFill>
          <a:blip r:embed="rId2"/>
          <a:stretch/>
        </p:blipFill>
        <p:spPr>
          <a:xfrm>
            <a:off x="6228720" y="1980360"/>
            <a:ext cx="1059840" cy="127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Text 2"/>
          <p:cNvSpPr/>
          <p:nvPr/>
        </p:nvSpPr>
        <p:spPr>
          <a:xfrm>
            <a:off x="7501320" y="2192400"/>
            <a:ext cx="393840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99"/>
              </a:lnSpc>
              <a:tabLst>
                <a:tab algn="l" pos="0"/>
              </a:tabLst>
            </a:pPr>
            <a:r>
              <a:rPr b="0" lang="en-US" sz="2050" strike="noStrike" u="none">
                <a:solidFill>
                  <a:srgbClr val="3c3939"/>
                </a:solidFill>
                <a:effectLst/>
                <a:uFillTx/>
                <a:latin typeface="Raleway"/>
                <a:ea typeface="Raleway"/>
              </a:rPr>
              <a:t>Data Collection &amp; Preprocessing</a:t>
            </a:r>
            <a:endParaRPr b="0" lang="en-US" sz="2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2" name="Image 2" descr="preencoded.png"/>
          <p:cNvPicPr/>
          <p:nvPr/>
        </p:nvPicPr>
        <p:blipFill>
          <a:blip r:embed="rId3"/>
          <a:stretch/>
        </p:blipFill>
        <p:spPr>
          <a:xfrm>
            <a:off x="6228720" y="3252960"/>
            <a:ext cx="1059840" cy="127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Text 3"/>
          <p:cNvSpPr/>
          <p:nvPr/>
        </p:nvSpPr>
        <p:spPr>
          <a:xfrm>
            <a:off x="7501320" y="3465000"/>
            <a:ext cx="32551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99"/>
              </a:lnSpc>
              <a:tabLst>
                <a:tab algn="l" pos="0"/>
              </a:tabLst>
            </a:pPr>
            <a:r>
              <a:rPr b="0" lang="en-US" sz="2050" strike="noStrike" u="none">
                <a:solidFill>
                  <a:srgbClr val="3c3939"/>
                </a:solidFill>
                <a:effectLst/>
                <a:uFillTx/>
                <a:latin typeface="Raleway"/>
                <a:ea typeface="Raleway"/>
              </a:rPr>
              <a:t>Model Selection &amp; Training</a:t>
            </a:r>
            <a:endParaRPr b="0" lang="en-US" sz="2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Image 3" descr="preencoded.png"/>
          <p:cNvPicPr/>
          <p:nvPr/>
        </p:nvPicPr>
        <p:blipFill>
          <a:blip r:embed="rId4"/>
          <a:stretch/>
        </p:blipFill>
        <p:spPr>
          <a:xfrm>
            <a:off x="6228720" y="4525200"/>
            <a:ext cx="1059840" cy="127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Text 4"/>
          <p:cNvSpPr/>
          <p:nvPr/>
        </p:nvSpPr>
        <p:spPr>
          <a:xfrm>
            <a:off x="7501320" y="4737240"/>
            <a:ext cx="265032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99"/>
              </a:lnSpc>
              <a:tabLst>
                <a:tab algn="l" pos="0"/>
              </a:tabLst>
            </a:pPr>
            <a:r>
              <a:rPr b="0" lang="en-US" sz="2050" strike="noStrike" u="none">
                <a:solidFill>
                  <a:srgbClr val="3c3939"/>
                </a:solidFill>
                <a:effectLst/>
                <a:uFillTx/>
                <a:latin typeface="Raleway"/>
                <a:ea typeface="Raleway"/>
              </a:rPr>
              <a:t>Evaluation &amp; Tuning</a:t>
            </a:r>
            <a:endParaRPr b="0" lang="en-US" sz="2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6" name="Image 4" descr="preencoded.png"/>
          <p:cNvPicPr/>
          <p:nvPr/>
        </p:nvPicPr>
        <p:blipFill>
          <a:blip r:embed="rId5"/>
          <a:stretch/>
        </p:blipFill>
        <p:spPr>
          <a:xfrm>
            <a:off x="6228720" y="5797800"/>
            <a:ext cx="1059840" cy="127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Text 5"/>
          <p:cNvSpPr/>
          <p:nvPr/>
        </p:nvSpPr>
        <p:spPr>
          <a:xfrm>
            <a:off x="7501320" y="6009840"/>
            <a:ext cx="3411000" cy="33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99"/>
              </a:lnSpc>
              <a:tabLst>
                <a:tab algn="l" pos="0"/>
              </a:tabLst>
            </a:pPr>
            <a:r>
              <a:rPr b="0" lang="en-US" sz="2050" strike="noStrike" u="none">
                <a:solidFill>
                  <a:srgbClr val="3c3939"/>
                </a:solidFill>
                <a:effectLst/>
                <a:uFillTx/>
                <a:latin typeface="Raleway"/>
                <a:ea typeface="Raleway"/>
              </a:rPr>
              <a:t>Deployment &amp; Maintenance</a:t>
            </a:r>
            <a:endParaRPr b="0" lang="en-US" sz="2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6"/>
          <p:cNvSpPr/>
          <p:nvPr/>
        </p:nvSpPr>
        <p:spPr>
          <a:xfrm>
            <a:off x="6228720" y="7309080"/>
            <a:ext cx="7658640" cy="33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650"/>
              </a:lnSpc>
              <a:tabLst>
                <a:tab algn="l" pos="0"/>
              </a:tabLst>
            </a:pPr>
            <a:r>
              <a:rPr b="0" lang="en-US" sz="165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Our systematic approach ensures a robust and effective predictive model.</a:t>
            </a:r>
            <a:endParaRPr b="0" lang="en-US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" name="" descr=""/>
          <p:cNvPicPr/>
          <p:nvPr/>
        </p:nvPicPr>
        <p:blipFill>
          <a:blip r:embed="rId6"/>
          <a:stretch/>
        </p:blipFill>
        <p:spPr>
          <a:xfrm>
            <a:off x="12573000" y="7668720"/>
            <a:ext cx="2057400" cy="56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" name="" descr=""/>
          <p:cNvPicPr/>
          <p:nvPr/>
        </p:nvPicPr>
        <p:blipFill>
          <a:blip r:embed="rId7"/>
          <a:stretch/>
        </p:blipFill>
        <p:spPr>
          <a:xfrm>
            <a:off x="12344400" y="0"/>
            <a:ext cx="2285640" cy="1148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1" name="" descr=""/>
          <p:cNvPicPr/>
          <p:nvPr/>
        </p:nvPicPr>
        <p:blipFill>
          <a:blip r:embed="rId8"/>
          <a:stretch/>
        </p:blipFill>
        <p:spPr>
          <a:xfrm>
            <a:off x="0" y="0"/>
            <a:ext cx="1828440" cy="491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 0"/>
          <p:cNvSpPr/>
          <p:nvPr/>
        </p:nvSpPr>
        <p:spPr>
          <a:xfrm>
            <a:off x="617760" y="485280"/>
            <a:ext cx="220536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49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1b1b27"/>
                </a:solidFill>
                <a:effectLst/>
                <a:uFillTx/>
                <a:latin typeface="Raleway"/>
                <a:ea typeface="Raleway"/>
              </a:rPr>
              <a:t>Data Insights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"/>
          <p:cNvSpPr/>
          <p:nvPr/>
        </p:nvSpPr>
        <p:spPr>
          <a:xfrm>
            <a:off x="617760" y="831600"/>
            <a:ext cx="1041876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300"/>
              </a:lnSpc>
              <a:tabLst>
                <a:tab algn="l" pos="0"/>
              </a:tabLst>
            </a:pPr>
            <a:r>
              <a:rPr b="0" lang="en-US" sz="3450" strike="noStrike" u="none">
                <a:solidFill>
                  <a:srgbClr val="1b1b27"/>
                </a:solidFill>
                <a:effectLst/>
                <a:uFillTx/>
                <a:latin typeface="Raleway"/>
                <a:ea typeface="Raleway"/>
              </a:rPr>
              <a:t>Behavioral Risk Factor Surveillance System (BRFSS)</a:t>
            </a:r>
            <a:endParaRPr b="0" lang="en-US" sz="3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"/>
          <p:cNvSpPr/>
          <p:nvPr/>
        </p:nvSpPr>
        <p:spPr>
          <a:xfrm>
            <a:off x="617760" y="1824120"/>
            <a:ext cx="253800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49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1b1b27"/>
                </a:solidFill>
                <a:effectLst/>
                <a:uFillTx/>
                <a:latin typeface="Raleway"/>
                <a:ea typeface="Raleway"/>
              </a:rPr>
              <a:t>Source: CDC BRFSS 2015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3"/>
          <p:cNvSpPr/>
          <p:nvPr/>
        </p:nvSpPr>
        <p:spPr>
          <a:xfrm>
            <a:off x="617760" y="2276280"/>
            <a:ext cx="648144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200"/>
              </a:lnSpc>
              <a:buClr>
                <a:srgbClr val="3c3939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Largest continuous telephone health survey.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4"/>
          <p:cNvSpPr/>
          <p:nvPr/>
        </p:nvSpPr>
        <p:spPr>
          <a:xfrm>
            <a:off x="617760" y="2620440"/>
            <a:ext cx="648144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200"/>
              </a:lnSpc>
              <a:buClr>
                <a:srgbClr val="3c3939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Focus on preventive health and risk behaviors.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5"/>
          <p:cNvSpPr/>
          <p:nvPr/>
        </p:nvSpPr>
        <p:spPr>
          <a:xfrm>
            <a:off x="617760" y="2964240"/>
            <a:ext cx="648144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200"/>
              </a:lnSpc>
              <a:buClr>
                <a:srgbClr val="3c3939"/>
              </a:buClr>
              <a:buFont typeface="Symbol" charset="2"/>
              <a:buChar char=""/>
            </a:pPr>
            <a:r>
              <a:rPr b="0" lang="en-US" sz="135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253,680 records with 19 selected features.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6"/>
          <p:cNvSpPr/>
          <p:nvPr/>
        </p:nvSpPr>
        <p:spPr>
          <a:xfrm>
            <a:off x="617760" y="3422880"/>
            <a:ext cx="220536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149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1b1b27"/>
                </a:solidFill>
                <a:effectLst/>
                <a:uFillTx/>
                <a:latin typeface="Raleway"/>
                <a:ea typeface="Raleway"/>
              </a:rPr>
              <a:t>Key Features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7"/>
          <p:cNvSpPr/>
          <p:nvPr/>
        </p:nvSpPr>
        <p:spPr>
          <a:xfrm>
            <a:off x="617760" y="3875400"/>
            <a:ext cx="648144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Target Variable:</a:t>
            </a:r>
            <a:r>
              <a:rPr b="0" lang="en-US" sz="135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 Diabetes Type 2 (DIABETE4)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8"/>
          <p:cNvSpPr/>
          <p:nvPr/>
        </p:nvSpPr>
        <p:spPr>
          <a:xfrm>
            <a:off x="617760" y="4219200"/>
            <a:ext cx="648144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Demographics:</a:t>
            </a:r>
            <a:r>
              <a:rPr b="0" lang="en-US" sz="135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 Age, Gender, Education, Income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9"/>
          <p:cNvSpPr/>
          <p:nvPr/>
        </p:nvSpPr>
        <p:spPr>
          <a:xfrm>
            <a:off x="617760" y="4563360"/>
            <a:ext cx="648144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Lifestyle:</a:t>
            </a:r>
            <a:r>
              <a:rPr b="0" lang="en-US" sz="135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 Exercise, Smoking, Diet (Fruits, Veg, Alcohol)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0"/>
          <p:cNvSpPr/>
          <p:nvPr/>
        </p:nvSpPr>
        <p:spPr>
          <a:xfrm>
            <a:off x="617760" y="4907160"/>
            <a:ext cx="648144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Health Indicators:</a:t>
            </a:r>
            <a:r>
              <a:rPr b="0" lang="en-US" sz="135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 BMI, General Health, Mental/Physical Health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1"/>
          <p:cNvSpPr/>
          <p:nvPr/>
        </p:nvSpPr>
        <p:spPr>
          <a:xfrm>
            <a:off x="617760" y="5250960"/>
            <a:ext cx="648144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Medical History:</a:t>
            </a:r>
            <a:r>
              <a:rPr b="0" lang="en-US" sz="135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 Cholesterol, Blood Pressure, CVD, Strokes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4" name="Image 0" descr="preencoded.png"/>
          <p:cNvPicPr/>
          <p:nvPr/>
        </p:nvPicPr>
        <p:blipFill>
          <a:blip r:embed="rId1"/>
          <a:stretch/>
        </p:blipFill>
        <p:spPr>
          <a:xfrm>
            <a:off x="8148600" y="1747800"/>
            <a:ext cx="6481440" cy="648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5" name="" descr=""/>
          <p:cNvPicPr/>
          <p:nvPr/>
        </p:nvPicPr>
        <p:blipFill>
          <a:blip r:embed="rId2"/>
          <a:stretch/>
        </p:blipFill>
        <p:spPr>
          <a:xfrm>
            <a:off x="12344400" y="0"/>
            <a:ext cx="2285640" cy="1148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6" name="" descr=""/>
          <p:cNvPicPr/>
          <p:nvPr/>
        </p:nvPicPr>
        <p:blipFill>
          <a:blip r:embed="rId3"/>
          <a:stretch/>
        </p:blipFill>
        <p:spPr>
          <a:xfrm>
            <a:off x="8767800" y="3472560"/>
            <a:ext cx="5714640" cy="429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" name=""/>
          <p:cNvSpPr/>
          <p:nvPr/>
        </p:nvSpPr>
        <p:spPr>
          <a:xfrm>
            <a:off x="10515600" y="3200400"/>
            <a:ext cx="3885840" cy="56088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Feature importance chart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 0"/>
          <p:cNvSpPr/>
          <p:nvPr/>
        </p:nvSpPr>
        <p:spPr>
          <a:xfrm>
            <a:off x="703440" y="552960"/>
            <a:ext cx="317592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49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1b1b27"/>
                </a:solidFill>
                <a:effectLst/>
                <a:uFillTx/>
                <a:latin typeface="Raleway"/>
                <a:ea typeface="Raleway"/>
              </a:rPr>
              <a:t>Preprocessing &amp; Imbalance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"/>
          <p:cNvSpPr/>
          <p:nvPr/>
        </p:nvSpPr>
        <p:spPr>
          <a:xfrm>
            <a:off x="703440" y="947160"/>
            <a:ext cx="5024880" cy="62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901"/>
              </a:lnSpc>
              <a:tabLst>
                <a:tab algn="l" pos="0"/>
              </a:tabLst>
            </a:pPr>
            <a:r>
              <a:rPr b="0" lang="en-US" sz="3950" strike="noStrike" u="none">
                <a:solidFill>
                  <a:srgbClr val="1b1b27"/>
                </a:solidFill>
                <a:effectLst/>
                <a:uFillTx/>
                <a:latin typeface="Raleway"/>
                <a:ea typeface="Raleway"/>
              </a:rPr>
              <a:t>Refining the Data</a:t>
            </a:r>
            <a:endParaRPr b="0" lang="en-US" sz="3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2"/>
          <p:cNvSpPr/>
          <p:nvPr/>
        </p:nvSpPr>
        <p:spPr>
          <a:xfrm>
            <a:off x="3182760" y="1876680"/>
            <a:ext cx="1652040" cy="1157400"/>
          </a:xfrm>
          <a:prstGeom prst="roundRect">
            <a:avLst>
              <a:gd name="adj" fmla="val 7291"/>
            </a:avLst>
          </a:prstGeom>
          <a:solidFill>
            <a:srgbClr val="e1e1ea"/>
          </a:solidFill>
          <a:ln w="7620">
            <a:solidFill>
              <a:srgbClr val="c7c7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1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3867840" y="2314440"/>
            <a:ext cx="281880" cy="28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Text 3"/>
          <p:cNvSpPr/>
          <p:nvPr/>
        </p:nvSpPr>
        <p:spPr>
          <a:xfrm>
            <a:off x="5036760" y="2077920"/>
            <a:ext cx="270144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49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3c3939"/>
                </a:solidFill>
                <a:effectLst/>
                <a:uFillTx/>
                <a:latin typeface="Raleway"/>
                <a:ea typeface="Raleway"/>
              </a:rPr>
              <a:t>Missing Value Handling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4"/>
          <p:cNvSpPr/>
          <p:nvPr/>
        </p:nvSpPr>
        <p:spPr>
          <a:xfrm>
            <a:off x="5036760" y="2512440"/>
            <a:ext cx="270144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KNN imputation for accuracy.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5"/>
          <p:cNvSpPr/>
          <p:nvPr/>
        </p:nvSpPr>
        <p:spPr>
          <a:xfrm>
            <a:off x="4936320" y="3025080"/>
            <a:ext cx="8889480" cy="10800"/>
          </a:xfrm>
          <a:prstGeom prst="roundRect">
            <a:avLst>
              <a:gd name="adj" fmla="val 738666"/>
            </a:avLst>
          </a:prstGeom>
          <a:solidFill>
            <a:srgbClr val="c7c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6720" bIns="-367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6"/>
          <p:cNvSpPr/>
          <p:nvPr/>
        </p:nvSpPr>
        <p:spPr>
          <a:xfrm>
            <a:off x="2356200" y="3135240"/>
            <a:ext cx="3305160" cy="1157400"/>
          </a:xfrm>
          <a:prstGeom prst="roundRect">
            <a:avLst>
              <a:gd name="adj" fmla="val 7291"/>
            </a:avLst>
          </a:prstGeom>
          <a:solidFill>
            <a:srgbClr val="e1e1ea"/>
          </a:solidFill>
          <a:ln w="7620">
            <a:solidFill>
              <a:srgbClr val="c7c7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6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867840" y="3573000"/>
            <a:ext cx="281880" cy="28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Text 7"/>
          <p:cNvSpPr/>
          <p:nvPr/>
        </p:nvSpPr>
        <p:spPr>
          <a:xfrm>
            <a:off x="5862960" y="3336120"/>
            <a:ext cx="251208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49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3c3939"/>
                </a:solidFill>
                <a:effectLst/>
                <a:uFillTx/>
                <a:latin typeface="Raleway"/>
                <a:ea typeface="Raleway"/>
              </a:rPr>
              <a:t>Feature Engineering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8"/>
          <p:cNvSpPr/>
          <p:nvPr/>
        </p:nvSpPr>
        <p:spPr>
          <a:xfrm>
            <a:off x="5862960" y="3771000"/>
            <a:ext cx="449316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BMI categories, health scores, comorbidity scores.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9"/>
          <p:cNvSpPr/>
          <p:nvPr/>
        </p:nvSpPr>
        <p:spPr>
          <a:xfrm>
            <a:off x="5762520" y="4283640"/>
            <a:ext cx="8062920" cy="10800"/>
          </a:xfrm>
          <a:prstGeom prst="roundRect">
            <a:avLst>
              <a:gd name="adj" fmla="val 738666"/>
            </a:avLst>
          </a:prstGeom>
          <a:solidFill>
            <a:srgbClr val="c7c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6720" bIns="-367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0"/>
          <p:cNvSpPr/>
          <p:nvPr/>
        </p:nvSpPr>
        <p:spPr>
          <a:xfrm>
            <a:off x="1530000" y="4393800"/>
            <a:ext cx="4957920" cy="1157400"/>
          </a:xfrm>
          <a:prstGeom prst="roundRect">
            <a:avLst>
              <a:gd name="adj" fmla="val 7291"/>
            </a:avLst>
          </a:prstGeom>
          <a:solidFill>
            <a:srgbClr val="e1e1ea"/>
          </a:solidFill>
          <a:ln w="7620">
            <a:solidFill>
              <a:srgbClr val="c7c7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1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3867840" y="4831200"/>
            <a:ext cx="281880" cy="28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" name="Text 11"/>
          <p:cNvSpPr/>
          <p:nvPr/>
        </p:nvSpPr>
        <p:spPr>
          <a:xfrm>
            <a:off x="6689520" y="4594680"/>
            <a:ext cx="251208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49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3c3939"/>
                </a:solidFill>
                <a:effectLst/>
                <a:uFillTx/>
                <a:latin typeface="Raleway"/>
                <a:ea typeface="Raleway"/>
              </a:rPr>
              <a:t>Encoding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2"/>
          <p:cNvSpPr/>
          <p:nvPr/>
        </p:nvSpPr>
        <p:spPr>
          <a:xfrm>
            <a:off x="6689520" y="5029200"/>
            <a:ext cx="382860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One-hot encoding for categorical variables.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3"/>
          <p:cNvSpPr/>
          <p:nvPr/>
        </p:nvSpPr>
        <p:spPr>
          <a:xfrm>
            <a:off x="6589080" y="5542200"/>
            <a:ext cx="7236360" cy="10800"/>
          </a:xfrm>
          <a:prstGeom prst="roundRect">
            <a:avLst>
              <a:gd name="adj" fmla="val 738666"/>
            </a:avLst>
          </a:prstGeom>
          <a:solidFill>
            <a:srgbClr val="c7c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6720" bIns="-367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4"/>
          <p:cNvSpPr/>
          <p:nvPr/>
        </p:nvSpPr>
        <p:spPr>
          <a:xfrm>
            <a:off x="703440" y="5652360"/>
            <a:ext cx="6611040" cy="1157400"/>
          </a:xfrm>
          <a:prstGeom prst="roundRect">
            <a:avLst>
              <a:gd name="adj" fmla="val 7291"/>
            </a:avLst>
          </a:prstGeom>
          <a:solidFill>
            <a:srgbClr val="e1e1ea"/>
          </a:solidFill>
          <a:ln w="7620">
            <a:solidFill>
              <a:srgbClr val="c7c7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6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3867840" y="6089760"/>
            <a:ext cx="281880" cy="28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" name="Text 15"/>
          <p:cNvSpPr/>
          <p:nvPr/>
        </p:nvSpPr>
        <p:spPr>
          <a:xfrm>
            <a:off x="7516080" y="5853240"/>
            <a:ext cx="251208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49"/>
              </a:lnSpc>
              <a:tabLst>
                <a:tab algn="l" pos="0"/>
              </a:tabLst>
            </a:pPr>
            <a:r>
              <a:rPr b="0" lang="en-US" sz="1950" strike="noStrike" u="none">
                <a:solidFill>
                  <a:srgbClr val="3c3939"/>
                </a:solidFill>
                <a:effectLst/>
                <a:uFillTx/>
                <a:latin typeface="Raleway"/>
                <a:ea typeface="Raleway"/>
              </a:rPr>
              <a:t>Feature Selection</a:t>
            </a:r>
            <a:endParaRPr b="0" lang="en-US" sz="1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6"/>
          <p:cNvSpPr/>
          <p:nvPr/>
        </p:nvSpPr>
        <p:spPr>
          <a:xfrm>
            <a:off x="7516080" y="6287760"/>
            <a:ext cx="316872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Retained 19 most relevant features.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7"/>
          <p:cNvSpPr/>
          <p:nvPr/>
        </p:nvSpPr>
        <p:spPr>
          <a:xfrm>
            <a:off x="703440" y="7036200"/>
            <a:ext cx="13222440" cy="64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00"/>
              </a:lnSpc>
              <a:tabLst>
                <a:tab algn="l" pos="0"/>
              </a:tabLst>
            </a:pPr>
            <a:r>
              <a:rPr b="1" lang="en-US" sz="1550" strike="noStrike" u="none">
                <a:solidFill>
                  <a:srgbClr val="1b1b27"/>
                </a:solidFill>
                <a:effectLst/>
                <a:uFillTx/>
                <a:latin typeface="Roboto"/>
                <a:ea typeface="Roboto"/>
              </a:rPr>
              <a:t>Challenge:</a:t>
            </a:r>
            <a:r>
              <a:rPr b="0" lang="en-US" sz="155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 Class Imbalance (84% Non-diabetic, 1.8% Pre-diabetic, 13.9% Diabetic). </a:t>
            </a:r>
            <a:r>
              <a:rPr b="1" lang="en-US" sz="1550" strike="noStrike" u="none">
                <a:solidFill>
                  <a:srgbClr val="1b1b27"/>
                </a:solidFill>
                <a:effectLst/>
                <a:uFillTx/>
                <a:latin typeface="Roboto"/>
                <a:ea typeface="Roboto"/>
              </a:rPr>
              <a:t>Solution:</a:t>
            </a:r>
            <a:r>
              <a:rPr b="0" lang="en-US" sz="155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 Resampling techniques (SMOTE, SMOTEEN) applied.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0" name="" descr=""/>
          <p:cNvPicPr/>
          <p:nvPr/>
        </p:nvPicPr>
        <p:blipFill>
          <a:blip r:embed="rId9"/>
          <a:stretch/>
        </p:blipFill>
        <p:spPr>
          <a:xfrm>
            <a:off x="12116160" y="7544160"/>
            <a:ext cx="2514240" cy="68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1" name="" descr=""/>
          <p:cNvPicPr/>
          <p:nvPr/>
        </p:nvPicPr>
        <p:blipFill>
          <a:blip r:embed="rId10"/>
          <a:stretch/>
        </p:blipFill>
        <p:spPr>
          <a:xfrm>
            <a:off x="12344400" y="0"/>
            <a:ext cx="2285640" cy="1148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828440" cy="491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3" name="" descr=""/>
          <p:cNvPicPr/>
          <p:nvPr/>
        </p:nvPicPr>
        <p:blipFill>
          <a:blip r:embed="rId2"/>
          <a:stretch/>
        </p:blipFill>
        <p:spPr>
          <a:xfrm>
            <a:off x="12116520" y="7544520"/>
            <a:ext cx="2514240" cy="68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4" name="" descr=""/>
          <p:cNvPicPr/>
          <p:nvPr/>
        </p:nvPicPr>
        <p:blipFill>
          <a:blip r:embed="rId3"/>
          <a:stretch/>
        </p:blipFill>
        <p:spPr>
          <a:xfrm>
            <a:off x="12344400" y="0"/>
            <a:ext cx="2285640" cy="1148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5" name="" descr=""/>
          <p:cNvPicPr/>
          <p:nvPr/>
        </p:nvPicPr>
        <p:blipFill>
          <a:blip r:embed="rId4"/>
          <a:stretch/>
        </p:blipFill>
        <p:spPr>
          <a:xfrm>
            <a:off x="457200" y="3602880"/>
            <a:ext cx="5712840" cy="4397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6" name="" descr=""/>
          <p:cNvPicPr/>
          <p:nvPr/>
        </p:nvPicPr>
        <p:blipFill>
          <a:blip r:embed="rId5"/>
          <a:stretch/>
        </p:blipFill>
        <p:spPr>
          <a:xfrm>
            <a:off x="8686800" y="3657600"/>
            <a:ext cx="5716440" cy="440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"/>
          <p:cNvSpPr/>
          <p:nvPr/>
        </p:nvSpPr>
        <p:spPr>
          <a:xfrm>
            <a:off x="78840" y="685800"/>
            <a:ext cx="6457320" cy="62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Relaway"/>
              </a:rPr>
              <a:t>Before Using SMOTE + ENN  the model shows extreme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Relaway"/>
              </a:rPr>
              <a:t>Bias towards the majority class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8" name="" descr=""/>
          <p:cNvPicPr/>
          <p:nvPr/>
        </p:nvPicPr>
        <p:blipFill>
          <a:blip r:embed="rId6"/>
          <a:stretch/>
        </p:blipFill>
        <p:spPr>
          <a:xfrm>
            <a:off x="3629520" y="6629400"/>
            <a:ext cx="5514120" cy="157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9" name="" descr=""/>
          <p:cNvPicPr/>
          <p:nvPr/>
        </p:nvPicPr>
        <p:blipFill>
          <a:blip r:embed="rId7"/>
          <a:stretch/>
        </p:blipFill>
        <p:spPr>
          <a:xfrm>
            <a:off x="552960" y="2184120"/>
            <a:ext cx="4933080" cy="1418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0" name="" descr=""/>
          <p:cNvPicPr/>
          <p:nvPr/>
        </p:nvPicPr>
        <p:blipFill>
          <a:blip r:embed="rId8"/>
          <a:stretch/>
        </p:blipFill>
        <p:spPr>
          <a:xfrm>
            <a:off x="6869880" y="2233800"/>
            <a:ext cx="7760160" cy="1423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ext 0"/>
          <p:cNvSpPr/>
          <p:nvPr/>
        </p:nvSpPr>
        <p:spPr>
          <a:xfrm>
            <a:off x="793800" y="983520"/>
            <a:ext cx="283464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1b1b27"/>
                </a:solidFill>
                <a:effectLst/>
                <a:uFillTx/>
                <a:latin typeface="Raleway"/>
                <a:ea typeface="Raleway"/>
              </a:rPr>
              <a:t>Model Performance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"/>
          <p:cNvSpPr/>
          <p:nvPr/>
        </p:nvSpPr>
        <p:spPr>
          <a:xfrm>
            <a:off x="793800" y="1428480"/>
            <a:ext cx="768708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5550"/>
              </a:lnSpc>
              <a:tabLst>
                <a:tab algn="l" pos="0"/>
              </a:tabLst>
            </a:pPr>
            <a:r>
              <a:rPr b="0" lang="en-US" sz="4450" strike="noStrike" u="none">
                <a:solidFill>
                  <a:srgbClr val="1b1b27"/>
                </a:solidFill>
                <a:effectLst/>
                <a:uFillTx/>
                <a:latin typeface="Raleway"/>
                <a:ea typeface="Raleway"/>
              </a:rPr>
              <a:t>LightGBM: Our Top Performer</a:t>
            </a:r>
            <a:endParaRPr b="0" lang="en-US" sz="4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3" name="Image 0" descr="preencoded.png"/>
          <p:cNvPicPr/>
          <p:nvPr/>
        </p:nvPicPr>
        <p:blipFill>
          <a:blip r:embed="rId1"/>
          <a:stretch/>
        </p:blipFill>
        <p:spPr>
          <a:xfrm>
            <a:off x="0" y="3971520"/>
            <a:ext cx="7603560" cy="425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" name="Text 2"/>
          <p:cNvSpPr/>
          <p:nvPr/>
        </p:nvSpPr>
        <p:spPr>
          <a:xfrm>
            <a:off x="8958960" y="2704320"/>
            <a:ext cx="283464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75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1b1b27"/>
                </a:solidFill>
                <a:effectLst/>
                <a:uFillTx/>
                <a:latin typeface="Raleway"/>
                <a:ea typeface="Raleway"/>
              </a:rPr>
              <a:t>Key Achievements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3"/>
          <p:cNvSpPr/>
          <p:nvPr/>
        </p:nvSpPr>
        <p:spPr>
          <a:xfrm>
            <a:off x="8958960" y="3285360"/>
            <a:ext cx="488412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3c3939"/>
              </a:buClr>
              <a:buFont typeface="Symbol" charset="2"/>
              <a:buChar char=""/>
            </a:pPr>
            <a:r>
              <a:rPr b="0" lang="en-US" sz="175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Processed 253,680 health records.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4"/>
          <p:cNvSpPr/>
          <p:nvPr/>
        </p:nvSpPr>
        <p:spPr>
          <a:xfrm>
            <a:off x="8958960" y="3727440"/>
            <a:ext cx="488412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3c3939"/>
              </a:buClr>
              <a:buFont typeface="Symbol" charset="2"/>
              <a:buChar char=""/>
            </a:pPr>
            <a:r>
              <a:rPr b="0" lang="en-US" sz="175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Ensemble approach for robustness.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5"/>
          <p:cNvSpPr/>
          <p:nvPr/>
        </p:nvSpPr>
        <p:spPr>
          <a:xfrm>
            <a:off x="8958960" y="4169880"/>
            <a:ext cx="488412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849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Selected </a:t>
            </a:r>
            <a:r>
              <a:rPr b="1" lang="en-US" sz="175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LightGBM</a:t>
            </a:r>
            <a:r>
              <a:rPr b="0" lang="en-US" sz="175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 for superior results.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6"/>
          <p:cNvSpPr/>
          <p:nvPr/>
        </p:nvSpPr>
        <p:spPr>
          <a:xfrm>
            <a:off x="8958960" y="4611960"/>
            <a:ext cx="4884120" cy="10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3c3939"/>
              </a:buClr>
              <a:buFont typeface="Symbol" charset="2"/>
              <a:buChar char=""/>
            </a:pPr>
            <a:r>
              <a:rPr b="0" lang="en-US" sz="175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Optimized through feature binning, comorbidity scoring, and hyperparameter tuning.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9" name="" descr=""/>
          <p:cNvPicPr/>
          <p:nvPr/>
        </p:nvPicPr>
        <p:blipFill>
          <a:blip r:embed="rId2"/>
          <a:stretch/>
        </p:blipFill>
        <p:spPr>
          <a:xfrm>
            <a:off x="12116160" y="7544160"/>
            <a:ext cx="2514240" cy="68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0" name="" descr=""/>
          <p:cNvPicPr/>
          <p:nvPr/>
        </p:nvPicPr>
        <p:blipFill>
          <a:blip r:embed="rId3"/>
          <a:stretch/>
        </p:blipFill>
        <p:spPr>
          <a:xfrm>
            <a:off x="12344400" y="0"/>
            <a:ext cx="2285640" cy="1148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0"/>
          <p:cNvSpPr/>
          <p:nvPr/>
        </p:nvSpPr>
        <p:spPr>
          <a:xfrm>
            <a:off x="639720" y="502560"/>
            <a:ext cx="228456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1b1b27"/>
                </a:solidFill>
                <a:effectLst/>
                <a:uFillTx/>
                <a:latin typeface="Raleway"/>
                <a:ea typeface="Raleway"/>
              </a:rPr>
              <a:t>Next Steps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"/>
          <p:cNvSpPr/>
          <p:nvPr/>
        </p:nvSpPr>
        <p:spPr>
          <a:xfrm>
            <a:off x="639720" y="861120"/>
            <a:ext cx="4746240" cy="57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450"/>
              </a:lnSpc>
              <a:tabLst>
                <a:tab algn="l" pos="0"/>
              </a:tabLst>
            </a:pPr>
            <a:r>
              <a:rPr b="0" lang="en-US" sz="3550" strike="noStrike" u="none">
                <a:solidFill>
                  <a:srgbClr val="1b1b27"/>
                </a:solidFill>
                <a:effectLst/>
                <a:uFillTx/>
                <a:latin typeface="Raleway"/>
                <a:ea typeface="Raleway"/>
              </a:rPr>
              <a:t>Future Vision &amp; Impact</a:t>
            </a:r>
            <a:endParaRPr b="0" lang="en-US" sz="3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3" name="Image 0" descr="preencoded.png"/>
          <p:cNvPicPr/>
          <p:nvPr/>
        </p:nvPicPr>
        <p:blipFill>
          <a:blip r:embed="rId1"/>
          <a:stretch/>
        </p:blipFill>
        <p:spPr>
          <a:xfrm>
            <a:off x="0" y="1777680"/>
            <a:ext cx="6451560" cy="645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4" name="Text 2"/>
          <p:cNvSpPr/>
          <p:nvPr/>
        </p:nvSpPr>
        <p:spPr>
          <a:xfrm>
            <a:off x="7545960" y="1889640"/>
            <a:ext cx="251136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1b1b27"/>
                </a:solidFill>
                <a:effectLst/>
                <a:uFillTx/>
                <a:latin typeface="Raleway"/>
                <a:ea typeface="Raleway"/>
              </a:rPr>
              <a:t>Planned Enhancements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3"/>
          <p:cNvSpPr/>
          <p:nvPr/>
        </p:nvSpPr>
        <p:spPr>
          <a:xfrm>
            <a:off x="7545960" y="2357640"/>
            <a:ext cx="64515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299"/>
              </a:lnSpc>
              <a:buClr>
                <a:srgbClr val="3c3939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Time Series System for trend analysis &amp; early warnings.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4"/>
          <p:cNvSpPr/>
          <p:nvPr/>
        </p:nvSpPr>
        <p:spPr>
          <a:xfrm>
            <a:off x="7545960" y="2714040"/>
            <a:ext cx="64515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299"/>
              </a:lnSpc>
              <a:buClr>
                <a:srgbClr val="3c3939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Integration with wearable devices.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5"/>
          <p:cNvSpPr/>
          <p:nvPr/>
        </p:nvSpPr>
        <p:spPr>
          <a:xfrm>
            <a:off x="7545960" y="3070440"/>
            <a:ext cx="64515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299"/>
              </a:lnSpc>
              <a:buClr>
                <a:srgbClr val="3c3939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Multi-language support &amp; Mobile application.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6"/>
          <p:cNvSpPr/>
          <p:nvPr/>
        </p:nvSpPr>
        <p:spPr>
          <a:xfrm>
            <a:off x="7545960" y="3426840"/>
            <a:ext cx="64515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299"/>
              </a:lnSpc>
              <a:buClr>
                <a:srgbClr val="3c3939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Healthcare provider portal for advanced tools.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7"/>
          <p:cNvSpPr/>
          <p:nvPr/>
        </p:nvSpPr>
        <p:spPr>
          <a:xfrm>
            <a:off x="7545960" y="3902040"/>
            <a:ext cx="228456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tabLst>
                <a:tab algn="l" pos="0"/>
              </a:tabLst>
            </a:pPr>
            <a:r>
              <a:rPr b="0" lang="en-US" sz="1750" strike="noStrike" u="none">
                <a:solidFill>
                  <a:srgbClr val="1b1b27"/>
                </a:solidFill>
                <a:effectLst/>
                <a:uFillTx/>
                <a:latin typeface="Raleway"/>
                <a:ea typeface="Raleway"/>
              </a:rPr>
              <a:t>Impact Potential</a:t>
            </a:r>
            <a:endParaRPr b="0" lang="en-US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8"/>
          <p:cNvSpPr/>
          <p:nvPr/>
        </p:nvSpPr>
        <p:spPr>
          <a:xfrm>
            <a:off x="7545960" y="4370400"/>
            <a:ext cx="64515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299"/>
              </a:lnSpc>
              <a:buClr>
                <a:srgbClr val="3c3939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Early detection &amp; intervention.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9"/>
          <p:cNvSpPr/>
          <p:nvPr/>
        </p:nvSpPr>
        <p:spPr>
          <a:xfrm>
            <a:off x="7545960" y="4726800"/>
            <a:ext cx="64515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299"/>
              </a:lnSpc>
              <a:buClr>
                <a:srgbClr val="3c3939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Reduced healthcare costs.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0"/>
          <p:cNvSpPr/>
          <p:nvPr/>
        </p:nvSpPr>
        <p:spPr>
          <a:xfrm>
            <a:off x="7545960" y="5082840"/>
            <a:ext cx="64515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299"/>
              </a:lnSpc>
              <a:buClr>
                <a:srgbClr val="3c3939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Improved patient outcomes &amp; accessibility.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1"/>
          <p:cNvSpPr/>
          <p:nvPr/>
        </p:nvSpPr>
        <p:spPr>
          <a:xfrm>
            <a:off x="7545960" y="5439240"/>
            <a:ext cx="64515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299"/>
              </a:lnSpc>
              <a:buClr>
                <a:srgbClr val="3c3939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Support for underserved communities.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4" name="" descr=""/>
          <p:cNvPicPr/>
          <p:nvPr/>
        </p:nvPicPr>
        <p:blipFill>
          <a:blip r:embed="rId2"/>
          <a:stretch/>
        </p:blipFill>
        <p:spPr>
          <a:xfrm>
            <a:off x="12116160" y="7544160"/>
            <a:ext cx="2514240" cy="68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5" name="" descr=""/>
          <p:cNvPicPr/>
          <p:nvPr/>
        </p:nvPicPr>
        <p:blipFill>
          <a:blip r:embed="rId3"/>
          <a:stretch/>
        </p:blipFill>
        <p:spPr>
          <a:xfrm>
            <a:off x="12344400" y="0"/>
            <a:ext cx="2285640" cy="114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" name=""/>
          <p:cNvSpPr txBox="1"/>
          <p:nvPr/>
        </p:nvSpPr>
        <p:spPr>
          <a:xfrm>
            <a:off x="7543800" y="6629400"/>
            <a:ext cx="2151360" cy="88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Relaway"/>
                <a:hlinkClick r:id="rId4"/>
              </a:rPr>
              <a:t>Main Branch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Relaway"/>
                <a:hlinkClick r:id="rId5"/>
              </a:rPr>
              <a:t>Laravel front-end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7543800" y="6172200"/>
            <a:ext cx="2449080" cy="35568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Relaway"/>
              </a:rPr>
              <a:t>GitHub Repositories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LibreOffice/25.8.3.2$Windows_X86_64 LibreOffice_project/8ca8d55c161d602844f5428fa4b58097424e324e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2025-11-28T12:47:48Z</dcterms:created>
  <dc:creator/>
  <dc:description/>
  <dc:language>en-US</dc:language>
  <cp:lastModifiedBy/>
  <dcterms:modified xsi:type="dcterms:W3CDTF">2025-11-29T21:46:24Z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