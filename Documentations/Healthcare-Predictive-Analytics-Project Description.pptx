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Playfair Display"/>
      <p:regular r:id="rId14"/>
    </p:embeddedFont>
    <p:embeddedFont>
      <p:font typeface="Playfair Display"/>
      <p:regular r:id="rId15"/>
    </p:embeddedFont>
    <p:embeddedFont>
      <p:font typeface="Playfair Display"/>
      <p:regular r:id="rId16"/>
    </p:embeddedFont>
    <p:embeddedFont>
      <p:font typeface="Playfair Display"/>
      <p:regular r:id="rId17"/>
    </p:embeddedFont>
    <p:embeddedFont>
      <p:font typeface="Open Sans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4060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Healthcare Predictive Analytics Project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2935" y="490299"/>
            <a:ext cx="10478095" cy="556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Overview: Enhancing Healthcare Outcomes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2935" y="1402318"/>
            <a:ext cx="13384530" cy="569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centers on developing an advanced predictive model to revolutionize healthcare outcomes through data-driven insights. Our primary goal is to empower healthcare professionals with precise tools for tasks such as patient risk prediction, enabling more proactive and personalized care.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2935" y="2172057"/>
            <a:ext cx="6603325" cy="1737122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5" name="Shape 3"/>
          <p:cNvSpPr/>
          <p:nvPr/>
        </p:nvSpPr>
        <p:spPr>
          <a:xfrm>
            <a:off x="800814" y="2349937"/>
            <a:ext cx="533876" cy="533876"/>
          </a:xfrm>
          <a:prstGeom prst="roundRect">
            <a:avLst>
              <a:gd name="adj" fmla="val 17125860"/>
            </a:avLst>
          </a:prstGeom>
          <a:solidFill>
            <a:srgbClr val="10101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7618" y="2496741"/>
            <a:ext cx="240268" cy="2402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814" y="3061692"/>
            <a:ext cx="2224802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Omar Hammed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00814" y="3446502"/>
            <a:ext cx="624756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Leader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04140" y="2172057"/>
            <a:ext cx="6603325" cy="1737122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10" name="Shape 7"/>
          <p:cNvSpPr/>
          <p:nvPr/>
        </p:nvSpPr>
        <p:spPr>
          <a:xfrm>
            <a:off x="7582019" y="2349937"/>
            <a:ext cx="533876" cy="533876"/>
          </a:xfrm>
          <a:prstGeom prst="roundRect">
            <a:avLst>
              <a:gd name="adj" fmla="val 17125860"/>
            </a:avLst>
          </a:prstGeom>
          <a:solidFill>
            <a:srgbClr val="10101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8823" y="2496741"/>
            <a:ext cx="240268" cy="2402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2019" y="3061692"/>
            <a:ext cx="2224802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Mohammed Awad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582019" y="3446502"/>
            <a:ext cx="624756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Engineer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2935" y="4087058"/>
            <a:ext cx="6603325" cy="1737122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00814" y="4264938"/>
            <a:ext cx="533876" cy="533876"/>
          </a:xfrm>
          <a:prstGeom prst="roundRect">
            <a:avLst>
              <a:gd name="adj" fmla="val 17125860"/>
            </a:avLst>
          </a:prstGeom>
          <a:solidFill>
            <a:srgbClr val="10101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618" y="4411742"/>
            <a:ext cx="240268" cy="2402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814" y="4976693"/>
            <a:ext cx="2224802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John Hosny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00814" y="5361503"/>
            <a:ext cx="624756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Scientist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404140" y="4087058"/>
            <a:ext cx="6603325" cy="1737122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20" name="Shape 15"/>
          <p:cNvSpPr/>
          <p:nvPr/>
        </p:nvSpPr>
        <p:spPr>
          <a:xfrm>
            <a:off x="7582019" y="4264938"/>
            <a:ext cx="533876" cy="533876"/>
          </a:xfrm>
          <a:prstGeom prst="roundRect">
            <a:avLst>
              <a:gd name="adj" fmla="val 17125860"/>
            </a:avLst>
          </a:prstGeom>
          <a:solidFill>
            <a:srgbClr val="10101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8823" y="4411742"/>
            <a:ext cx="240268" cy="2402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2019" y="4976693"/>
            <a:ext cx="2224802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Mohammed Aziz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582019" y="5361503"/>
            <a:ext cx="624756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Analyst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22935" y="6002060"/>
            <a:ext cx="6603325" cy="1737122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25" name="Shape 19"/>
          <p:cNvSpPr/>
          <p:nvPr/>
        </p:nvSpPr>
        <p:spPr>
          <a:xfrm>
            <a:off x="800814" y="6179939"/>
            <a:ext cx="533876" cy="533876"/>
          </a:xfrm>
          <a:prstGeom prst="roundRect">
            <a:avLst>
              <a:gd name="adj" fmla="val 17125860"/>
            </a:avLst>
          </a:prstGeom>
          <a:solidFill>
            <a:srgbClr val="10101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7618" y="6326743"/>
            <a:ext cx="240268" cy="2402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0814" y="6891695"/>
            <a:ext cx="2224802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Mohammed Nagaty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800814" y="7276505"/>
            <a:ext cx="624756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 Specialist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404140" y="6002060"/>
            <a:ext cx="6603325" cy="1737122"/>
          </a:xfrm>
          <a:prstGeom prst="roundRect">
            <a:avLst>
              <a:gd name="adj" fmla="val 1537"/>
            </a:avLst>
          </a:prstGeom>
          <a:solidFill>
            <a:srgbClr val="E0E0EC"/>
          </a:solidFill>
          <a:ln/>
        </p:spPr>
      </p:sp>
      <p:sp>
        <p:nvSpPr>
          <p:cNvPr id="30" name="Shape 23"/>
          <p:cNvSpPr/>
          <p:nvPr/>
        </p:nvSpPr>
        <p:spPr>
          <a:xfrm>
            <a:off x="7582019" y="6179939"/>
            <a:ext cx="533876" cy="533876"/>
          </a:xfrm>
          <a:prstGeom prst="roundRect">
            <a:avLst>
              <a:gd name="adj" fmla="val 17125860"/>
            </a:avLst>
          </a:prstGeom>
          <a:solidFill>
            <a:srgbClr val="10101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8823" y="6326743"/>
            <a:ext cx="240268" cy="2402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2019" y="6891695"/>
            <a:ext cx="2224802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Mahmoud Salah</a:t>
            </a:r>
            <a:endParaRPr lang="en-US" sz="1750" dirty="0"/>
          </a:p>
        </p:txBody>
      </p:sp>
      <p:sp>
        <p:nvSpPr>
          <p:cNvPr id="33" name="Text 25"/>
          <p:cNvSpPr/>
          <p:nvPr/>
        </p:nvSpPr>
        <p:spPr>
          <a:xfrm>
            <a:off x="7582019" y="7276505"/>
            <a:ext cx="624756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Documentation Lead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270" y="352187"/>
            <a:ext cx="6115764" cy="400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Core Objectives &amp; Essential Technologies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8270" y="1072515"/>
            <a:ext cx="1921431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48270" y="1440656"/>
            <a:ext cx="7412950" cy="61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aim is to create a robust, clear, and concise learning model. This model will function as an intelligent healthcare tracker or an advanced health agent API system, specifically designed for seamless integration and deployment within a Power BI environment. This will provide actionable insights directly to end-users.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270" y="2199442"/>
            <a:ext cx="7412950" cy="7412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1261" y="1072515"/>
            <a:ext cx="2436733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Tools and Technologies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81261" y="1440656"/>
            <a:ext cx="6008370" cy="409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achieve our project goals, we leverage a comprehensive suite of industry-standard tools and technologies: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181261" y="1965722"/>
            <a:ext cx="6008370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Anaconda Distribution: For a powerful data science environment.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1261" y="2215396"/>
            <a:ext cx="6008370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PyCharm: Our integrated development environment for robust coding.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181261" y="2465070"/>
            <a:ext cx="6008370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GIT: For version control and collaborative development.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81261" y="2785229"/>
            <a:ext cx="6008370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79" y="560308"/>
            <a:ext cx="6555343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Strategic Project Milestones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name="adj" fmla="val 133358"/>
            </a:avLst>
          </a:prstGeom>
          <a:solidFill>
            <a:srgbClr val="C6C6D2"/>
          </a:solidFill>
          <a:ln/>
        </p:spPr>
      </p:sp>
      <p:sp>
        <p:nvSpPr>
          <p:cNvPr id="4" name="Shape 2"/>
          <p:cNvSpPr/>
          <p:nvPr/>
        </p:nvSpPr>
        <p:spPr>
          <a:xfrm>
            <a:off x="6931700" y="1818799"/>
            <a:ext cx="406360" cy="22860"/>
          </a:xfrm>
          <a:prstGeom prst="roundRect">
            <a:avLst>
              <a:gd name="adj" fmla="val 133358"/>
            </a:avLst>
          </a:prstGeom>
          <a:solidFill>
            <a:srgbClr val="C6C6D2"/>
          </a:solidFill>
          <a:ln/>
        </p:spPr>
      </p:sp>
      <p:sp>
        <p:nvSpPr>
          <p:cNvPr id="5" name="Shape 3"/>
          <p:cNvSpPr/>
          <p:nvPr/>
        </p:nvSpPr>
        <p:spPr>
          <a:xfrm>
            <a:off x="7239000" y="1754029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101014"/>
          </a:solidFill>
          <a:ln/>
        </p:spPr>
      </p:sp>
      <p:sp>
        <p:nvSpPr>
          <p:cNvPr id="6" name="Text 4"/>
          <p:cNvSpPr/>
          <p:nvPr/>
        </p:nvSpPr>
        <p:spPr>
          <a:xfrm>
            <a:off x="1154192" y="1671399"/>
            <a:ext cx="53481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Collection, Exploration &amp; Preprocessing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1279" y="2110859"/>
            <a:ext cx="579108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Finished by: Saturday, September 27, 2025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92340" y="3037999"/>
            <a:ext cx="406360" cy="22860"/>
          </a:xfrm>
          <a:prstGeom prst="roundRect">
            <a:avLst>
              <a:gd name="adj" fmla="val 133358"/>
            </a:avLst>
          </a:prstGeom>
          <a:solidFill>
            <a:srgbClr val="C6C6D2"/>
          </a:solidFill>
          <a:ln/>
        </p:spPr>
      </p:sp>
      <p:sp>
        <p:nvSpPr>
          <p:cNvPr id="9" name="Shape 7"/>
          <p:cNvSpPr/>
          <p:nvPr/>
        </p:nvSpPr>
        <p:spPr>
          <a:xfrm>
            <a:off x="7239000" y="2973229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101014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40" y="2890599"/>
            <a:ext cx="579108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Advanced Data Analysis, Visualization &amp; Feature Engineering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28040" y="3647599"/>
            <a:ext cx="579108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Finished by: Saturday, October 18, 2025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31700" y="4088963"/>
            <a:ext cx="406360" cy="22860"/>
          </a:xfrm>
          <a:prstGeom prst="roundRect">
            <a:avLst>
              <a:gd name="adj" fmla="val 133358"/>
            </a:avLst>
          </a:prstGeom>
          <a:solidFill>
            <a:srgbClr val="C6C6D2"/>
          </a:solidFill>
          <a:ln/>
        </p:spPr>
      </p:sp>
      <p:sp>
        <p:nvSpPr>
          <p:cNvPr id="13" name="Shape 11"/>
          <p:cNvSpPr/>
          <p:nvPr/>
        </p:nvSpPr>
        <p:spPr>
          <a:xfrm>
            <a:off x="7239000" y="4024193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101014"/>
          </a:solidFill>
          <a:ln/>
        </p:spPr>
      </p:sp>
      <p:sp>
        <p:nvSpPr>
          <p:cNvPr id="14" name="Text 12"/>
          <p:cNvSpPr/>
          <p:nvPr/>
        </p:nvSpPr>
        <p:spPr>
          <a:xfrm>
            <a:off x="2262188" y="3941564"/>
            <a:ext cx="42401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Development &amp; Optimization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1279" y="4381024"/>
            <a:ext cx="579108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Finished by: Saturday, November 8, 2025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92340" y="5139928"/>
            <a:ext cx="406360" cy="22860"/>
          </a:xfrm>
          <a:prstGeom prst="roundRect">
            <a:avLst>
              <a:gd name="adj" fmla="val 133358"/>
            </a:avLst>
          </a:prstGeom>
          <a:solidFill>
            <a:srgbClr val="C6C6D2"/>
          </a:solidFill>
          <a:ln/>
        </p:spPr>
      </p:sp>
      <p:sp>
        <p:nvSpPr>
          <p:cNvPr id="17" name="Shape 15"/>
          <p:cNvSpPr/>
          <p:nvPr/>
        </p:nvSpPr>
        <p:spPr>
          <a:xfrm>
            <a:off x="7239000" y="5075158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101014"/>
          </a:solidFill>
          <a:ln/>
        </p:spPr>
      </p:sp>
      <p:sp>
        <p:nvSpPr>
          <p:cNvPr id="18" name="Text 16"/>
          <p:cNvSpPr/>
          <p:nvPr/>
        </p:nvSpPr>
        <p:spPr>
          <a:xfrm>
            <a:off x="8128040" y="4992529"/>
            <a:ext cx="409694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MLOps, Deployment &amp; Monitoring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128040" y="5431988"/>
            <a:ext cx="579108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Finished by: Tuesday, November 25, 2025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31700" y="6190893"/>
            <a:ext cx="406360" cy="22860"/>
          </a:xfrm>
          <a:prstGeom prst="roundRect">
            <a:avLst>
              <a:gd name="adj" fmla="val 133358"/>
            </a:avLst>
          </a:prstGeom>
          <a:solidFill>
            <a:srgbClr val="C6C6D2"/>
          </a:solidFill>
          <a:ln/>
        </p:spPr>
      </p:sp>
      <p:sp>
        <p:nvSpPr>
          <p:cNvPr id="21" name="Shape 19"/>
          <p:cNvSpPr/>
          <p:nvPr/>
        </p:nvSpPr>
        <p:spPr>
          <a:xfrm>
            <a:off x="7239000" y="6126123"/>
            <a:ext cx="152400" cy="152400"/>
          </a:xfrm>
          <a:prstGeom prst="roundRect">
            <a:avLst>
              <a:gd name="adj" fmla="val 300000"/>
            </a:avLst>
          </a:prstGeom>
          <a:solidFill>
            <a:srgbClr val="101014"/>
          </a:solidFill>
          <a:ln/>
        </p:spPr>
      </p:sp>
      <p:sp>
        <p:nvSpPr>
          <p:cNvPr id="22" name="Text 20"/>
          <p:cNvSpPr/>
          <p:nvPr/>
        </p:nvSpPr>
        <p:spPr>
          <a:xfrm>
            <a:off x="2182178" y="6043493"/>
            <a:ext cx="43201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Final Documentation &amp; Presentation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1279" y="6482953"/>
            <a:ext cx="579108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Finished by: Monday, December 29, 2025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626" y="340757"/>
            <a:ext cx="6187202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Quality &amp; Model Performance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3626" y="1037630"/>
            <a:ext cx="2108716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Quality Assessment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33626" y="1393746"/>
            <a:ext cx="673048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Ensuring high-quality data is foundational for accurate predictions.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3626" y="1703427"/>
            <a:ext cx="673048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Values Handled: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missing values were successfully addressed.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3626" y="1945005"/>
            <a:ext cx="673048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Accuracy Post-Preprocessing: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Achieved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85%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accuracy after meticulous preprocessing.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3626" y="2186583"/>
            <a:ext cx="6730484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 Diversity: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Initial dataset was unbalanced with a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33% to 66% ratio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before proper encoding, indicating the need for careful handling.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626" y="2722364"/>
            <a:ext cx="6730484" cy="67304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73910" y="1037630"/>
            <a:ext cx="2649617" cy="23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Performance Evaluation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73910" y="1393746"/>
            <a:ext cx="673048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predictive model demonstrates strong performance across key metrics.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73910" y="1703427"/>
            <a:ext cx="673048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Accuracy (Accuracy/F1-Score):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Attained an impressive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88%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73910" y="1945005"/>
            <a:ext cx="673048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Prediction Speed (Latency):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Efficient prediction at approximately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to 100 ms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73910" y="2186583"/>
            <a:ext cx="6730484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Rate (False Positive/False Negative Rate):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Managed at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0.21 / 0.28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respectively.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910" y="2524125"/>
            <a:ext cx="6730484" cy="67304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503" y="620316"/>
            <a:ext cx="756499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Deployment and Scalability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9503" y="2368272"/>
            <a:ext cx="7564993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operational stability and responsiveness of our deployed model are critical for real-world application.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89503" y="3343989"/>
            <a:ext cx="3669744" cy="2382679"/>
          </a:xfrm>
          <a:prstGeom prst="roundRect">
            <a:avLst>
              <a:gd name="adj" fmla="val 1420"/>
            </a:avLst>
          </a:prstGeom>
          <a:solidFill>
            <a:srgbClr val="E0E0EC"/>
          </a:solidFill>
          <a:ln/>
        </p:spPr>
      </p:sp>
      <p:sp>
        <p:nvSpPr>
          <p:cNvPr id="6" name="Text 3"/>
          <p:cNvSpPr/>
          <p:nvPr/>
        </p:nvSpPr>
        <p:spPr>
          <a:xfrm>
            <a:off x="1015008" y="3569494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API Uptime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5008" y="4057174"/>
            <a:ext cx="3218736" cy="1443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100%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operational uptime ensures continuous service availability for healthcare professionals.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4752" y="3343989"/>
            <a:ext cx="3669744" cy="2382679"/>
          </a:xfrm>
          <a:prstGeom prst="roundRect">
            <a:avLst>
              <a:gd name="adj" fmla="val 1420"/>
            </a:avLst>
          </a:prstGeom>
          <a:solidFill>
            <a:srgbClr val="E0E0EC"/>
          </a:solidFill>
          <a:ln/>
        </p:spPr>
      </p:sp>
      <p:sp>
        <p:nvSpPr>
          <p:cNvPr id="9" name="Text 6"/>
          <p:cNvSpPr/>
          <p:nvPr/>
        </p:nvSpPr>
        <p:spPr>
          <a:xfrm>
            <a:off x="4910257" y="3569494"/>
            <a:ext cx="321873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Response Time Per Request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0257" y="4409599"/>
            <a:ext cx="3218736" cy="1082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Rapid processing with an average response time of 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milliseconds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request.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89503" y="5952172"/>
            <a:ext cx="7564993" cy="1660684"/>
          </a:xfrm>
          <a:prstGeom prst="roundRect">
            <a:avLst>
              <a:gd name="adj" fmla="val 2037"/>
            </a:avLst>
          </a:prstGeom>
          <a:solidFill>
            <a:srgbClr val="E0E0EC"/>
          </a:solidFill>
          <a:ln/>
        </p:spPr>
      </p:sp>
      <p:sp>
        <p:nvSpPr>
          <p:cNvPr id="12" name="Text 9"/>
          <p:cNvSpPr/>
          <p:nvPr/>
        </p:nvSpPr>
        <p:spPr>
          <a:xfrm>
            <a:off x="1015008" y="6177677"/>
            <a:ext cx="363593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Processing Speed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15008" y="6665357"/>
            <a:ext cx="7113984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Currently, real-time video model processing (FPS) is not applicable to this iteration of the project.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397" y="548164"/>
            <a:ext cx="10462260" cy="62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Looking Ahead: Impact and Future Directions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6397" y="1567815"/>
            <a:ext cx="13237607" cy="63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lays a robust foundation for integrating predictive analytics into healthcare, promising significant improvements in patient care and operational efficiency. We are excited about the potential to further refine and expand this model.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17" y="2557224"/>
            <a:ext cx="4301371" cy="238767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455" y="2557224"/>
            <a:ext cx="4301371" cy="238767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893" y="2557224"/>
            <a:ext cx="4301371" cy="238767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5103971"/>
            <a:ext cx="13222367" cy="2387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2025-11-28T12:37:36Z</dcterms:created>
  <dcterms:modified xsi:type="dcterms:W3CDTF">2025-11-28T12:37:36Z</dcterms:modified>
</cp:coreProperties>
</file>